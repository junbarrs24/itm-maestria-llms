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300" r:id="rId43"/>
    <p:sldId id="301" r:id="rId44"/>
    <p:sldId id="302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78941"/>
  </p:normalViewPr>
  <p:slideViewPr>
    <p:cSldViewPr snapToGrid="0" snapToObjects="1">
      <p:cViewPr varScale="1">
        <p:scale>
          <a:sx n="105" d="100"/>
          <a:sy n="105" d="100"/>
        </p:scale>
        <p:origin x="96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819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https://www.canirun.a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Del modelo base al asistente moderno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Semana 3 · Pre-training, SFT, preference optimization y elección de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Arquitectura de Software para Sistemas Inteligentes · Bloque de fundamentos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de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39" y="24231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Si GPT-2 ya es un Transformer, ¿por qué no se comporta como ChatGPT?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Tres modelos, un mismo mecanismo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GPT-2, Qwen2.5-0.5B base y Qwen2.5-0.5B-Instruct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tres modelos de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78136"/>
              </p:ext>
            </p:extLst>
          </p:nvPr>
        </p:nvGraphicFramePr>
        <p:xfrm>
          <a:off x="548639" y="2456688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Parámetros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Vocabulario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Post-training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Clase en Transformers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GPT-2 (2019)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124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50,257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GPT2LMHeadModel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Qwen2.5-0.5B-Instruct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SFT + preference optimization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Base e instruct de Qwen: misma arquitectura, mismos parámetros, distinto comportamiento.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Cinco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instrucciones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,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tres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modelos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(demo)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380713"/>
              </p:ext>
            </p:extLst>
          </p:nvPr>
        </p:nvGraphicFramePr>
        <p:xfrm>
          <a:off x="548640" y="2020824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Instrucción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base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instruct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Resumir en una oración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el texto original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Resume (con errores menores)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Clasificar ticket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la instrucción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error_tecnico (discutible)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Capital de Michoacán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'Michoacán'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ciudad equivocada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nombre/edad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Código JavaScript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con texto alrededor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Contraseña de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Inglés sin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relación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Explica qué es un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Rechaza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con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frase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de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política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post-training cambia el comportamiento.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El mecanismo y el conocimiento se conservan.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Base e instruct predicen el siguiente token con los mismos pesos de pre-training. Lo que aprendieron después es un formato de interacción y una preferencia por ciertas respuestas.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progresión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890515" y="381000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547616" y="4200144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35058" y="3831335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 dirty="0" err="1">
                <a:solidFill>
                  <a:srgbClr val="111827"/>
                </a:solidFill>
                <a:latin typeface="Calibri"/>
              </a:rPr>
              <a:t>Asistente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flecha es más entrenamiento. Ninguna cambia la arquitectura.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Datos y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De dónde sale el modelo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547616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181856" y="4541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246437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texto entra al 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Web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filtrada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Páginas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rastreadas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limpiadas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deduplicadas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 Es la mayor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parte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volumen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define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dominante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Código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Repositorios públicos. Explica por qué el base de la demo respondió con JavaScript a una petición de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Libros y artículos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largo y bien editado. Mejora coherencia en documentos extensos.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Conversaciones y foros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Preguntas y respuestas. Sin esto, el modelo base tiene aún menos idea de qué es 'responder'.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FF0000"/>
                </a:solidFill>
                <a:latin typeface="Calibri"/>
              </a:rPr>
              <a:t>Datos </a:t>
            </a:r>
            <a:r>
              <a:rPr sz="1700" b="1" dirty="0" err="1">
                <a:solidFill>
                  <a:srgbClr val="FF0000"/>
                </a:solidFill>
                <a:latin typeface="Calibri"/>
              </a:rPr>
              <a:t>sintéticos</a:t>
            </a:r>
            <a:endParaRPr sz="1700" b="1" dirty="0">
              <a:solidFill>
                <a:srgbClr val="FF000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generado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otros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común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familias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recientes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Mezcla por idioma y dominio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Las proporciones deciden qué hace bien el modelo. GPT-2 vio casi solo inglés; Qwen2.5 vio decenas de idiomas.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Preparación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Rastreo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Deduplicación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contenido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Mezcla por dominio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modelo base es el resultado de estas decisiones de ingeniería.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Una sola señal: predecir el siguiente token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sobre billones de tokens de 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Ninguna señal de entrenamiento distinta de la continuación. Los ejemplos de instrucciones y rechazos que hay en el texto se aprenden como texto más, sin etiqueta; el comportamiento consistente llega con el post-training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hace un modelo base con una instrucción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prompt = ("Clasifica el siguiente ticket en una de estas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"categorías: facturacion, acceso, error_tecnico.\n"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"Ticket: 'No puedo iniciar sesión desde ayer.'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"Responde solo con la categoría.\n")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prompt)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-&gt; "Clasifica el siguiente ticket en una de estas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categorías: facturacion, acceso, error_tecnico.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Responde solo con..."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Repite la instrucción casi literal.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 la continuación más probable de ese texto.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No hay falla: el modelo hace su trabajo.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 que falta es un formato de interacción.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modelo base sí sigue patrones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patron = """Ticket: 'Me cobraron dos veces este mes.'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facturacion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'La app se cierra al abrir reportes.'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error_tecnico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Categoría:"""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patron)   # -&gt; " error_tecnico"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Con tres ejemplos, el base clasifica.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In-context learning: se estudia en la semana 4.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Existía antes de cualquier post-training.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Los ejemplos viajan en cada llamada: tokens y costo.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Supervised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el formato instrucción →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0763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41876" y="4602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9317" y="4236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Datos nuevos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Dataset de pares (instrucción, respuesta): miles a millones, escritos por personas o generados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Mismo objetivo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Seguir entrenando con next-token prediction sobre la respuesta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cambia y qué no con 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Comportamientos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dataset: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longitud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ante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peticiones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dataset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enseñó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rechazar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No cambia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arquitectura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tokenizer.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siendo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next-token prediction.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conocimiento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mundo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pre-training.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alucinar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hechos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fluidez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Fine-tuning: la familia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Fine-tuning completo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actualizan todos los pesos. Máxima capacidad de cambio, máximo costo de cómputo y de memoria, y riesgo de olvidar lo aprendido en pre-training.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LoRA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congelan los pesos y se entrenan matrices pequeñas de bajo rango que se suman a las originales. Una fracción del costo. Es la razón por la que el fine-tuning es accesible hoy.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Cuándo tiene sentido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Comportamiento o formato muy específico, en volumen alto, con dataset propio de calidad. Rara vez para agregar conocimiento.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formas de cambiar lo que responde el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087739"/>
              </p:ext>
            </p:extLst>
          </p:nvPr>
        </p:nvGraphicFramePr>
        <p:xfrm>
          <a:off x="548640" y="2450592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El contexto de cada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Instrucciones, formato, ejemplos pocos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Tokens por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La información disponible en cada llamada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Conocimiento externo, cambiante o privado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Retrieval + tokens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Los pesos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Comportamiento o formato en volumen alto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Dataset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entrenamiento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operación</a:t>
                      </a:r>
                      <a:endParaRPr sz="14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Siembra para la semana 5. Orden de la escalera: prompting → RAG → fine-tuning.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Chat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chat es texto con marcadores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la aplicación envía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500" b="0">
                <a:solidFill>
                  <a:srgbClr val="111827"/>
                </a:solidFill>
                <a:latin typeface="Courier New"/>
              </a:rPr>
              <a:t>mensajes = [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"system", "content": "Eres un asistente breve. Respondes en una oración."},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"user",   "content": "¿Qué es un token?"},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texto = tok.apply_chat_template(mensajes, add_generation_prompt=True, tokenize=False)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print(texto)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el modelo 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&lt;|im_start|&gt;system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Eres un asistente breve. Respondes en una oración.&lt;|im_end|&gt;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&lt;|im_start|&gt;user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¿Qué es un token?&lt;|im_end|&gt;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Un solo string.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&lt;|im_start|&gt; e &lt;|im_end|&gt; son tokens del vocabulario.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IDs 151644 y 151645 en Qwen2.5.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SFT vio millones de ejemplos con este formato.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Después de 'assistant\n' aprendió que viene una respuesta.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 el chat es solo texto...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¿Escribir el template a mano produce la misma respuesta que apply_chat_template?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consecuencias para la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Quién construye el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decide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system prompt,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turnos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incluir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recuerda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nada entre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llamadas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4: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construcción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ingeniería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9: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incluir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hay 200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turnos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puede salir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Si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usuario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marcadores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distingue.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dentro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leen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Raíz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prompt injection (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4,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delimitadores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).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frontera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seguridad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qué respuesta preferir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3356" y="419100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87596" y="455676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45898" y="419100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Por qué SFT no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hay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muchas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válidas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mejores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otras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SFT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imita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referencia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criterios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importan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difíciles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escribir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regla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utilidad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honestidad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longitud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adecuada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cumplir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fácil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elegir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dos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escribir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perfecta.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ahí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idea: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recolectar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comparaciones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sobre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ellas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par de preferencia real (dataset de la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Elegida (score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Prompt: clasifica la reseña como P o 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Respuesta: "P"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Cumple la instrucción y el formato.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Rechazada (score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Repite la reseña, agrega '[Answer] N Confidence: 80%'.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Luego dice que es positiva.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Verbosa, contradictoria, ignora el formato.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Reward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Prompt + dos respuestas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Anotador elige una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Dataset de pares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Entrenar un modelo que puntúa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Reward model: respuesta →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reward model codifica las preferencias del anotador. Nada más.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RLHF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 (Reinforcement Learning from Human Feedback)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 (política)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Muestreo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Genera respuestas a prompts nuevos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Señal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Reward model las puntúa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Optimización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Actualizar el modelo para subir el score, sin alejarse demasiado del SFT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hereda el asistente del proceso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Complacencia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las respuestas que dan la razón fueron preferidas, el modelo tiende a darla. Riesgo en tareas de revisión.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Sobre-rechazo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rechazar fue premiado en casos dudosos, el modelo rechaza de más. Se ve en clasificadores de contenido.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Seguridad sin conocimiento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premió sonar seguro y útil. El modelo responde con confianza aunque no sepa: la capital equivocada de la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Sesgo del anotador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Idioma, cultura, longitud preferida, formato. Todo lo que el anotador prefirió está en los pesos.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Verbosidad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evaluadores tienden a preferir respuestas largas. Muchos asistentes son largos por eso, y cuesta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Nada de conocimiento nuevo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pares enseñan qué preferir. Los hechos siguen viniendo del pre-training.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Volviendo a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¿El asistente sabe más que el modelo base?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Elegir un modelo desde los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Cuatro ejes, un requisito dominante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ejes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149641"/>
              </p:ext>
            </p:extLst>
          </p:nvPr>
        </p:nvGraphicFramePr>
        <p:xfrm>
          <a:off x="548640" y="2020824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Eje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típico que lo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Abierto / cerrado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los pesos son públicos y se pueden ejecutar y modificar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Control, privacidad, reproducibilidad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/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Dónde corre y quién lo opera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Confidencialidad, capacidad de operar GPUs, volumen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 / grande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frente a costo y latencia por token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Presupuesto, latencia máxima, dificultad de la tarea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Estándar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/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el modelo genera razonamiento intermedio antes de responder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Tareas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multi-paso;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el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resto rara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vez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lo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justifica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Abierto vs cerrado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Abierto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Pesos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descargables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local,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inspeccionar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fine-tuning.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cambia sin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tú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decidas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Operarlo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problema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Cerrado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Solo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vía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API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Suele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adelante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calidad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herramientas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alrededor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cambiar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retirar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hay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monitorear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Pequeño vs grande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Cientos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pocos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miles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parámetros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Barato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rápido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Suficiente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tareas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acotadas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clasificar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extraer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formatear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Corre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CPU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GPU modesta.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equivoca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hechos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complejas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Grande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Mejor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tareas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abiertas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multi-paso.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Más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lento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siempre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Requiere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API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seria.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Tentación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usarlo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Local vs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6B7280"/>
                </a:solidFill>
                <a:latin typeface="Calibri"/>
              </a:rPr>
              <a:t>Semana 3 · Del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modelo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base al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asistente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  ·  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Arquitectura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de Software para Sistemas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Inteligentes</a:t>
            </a:r>
            <a:r>
              <a:rPr sz="1100" dirty="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salen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Costo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marginal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llamada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casi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cero.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controlable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Tú operas,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actualizas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escalas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Sin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pagas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Acceso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capaces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viajan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un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tercero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revisar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contrato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retención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Dependencia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disponibilidad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cambios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444DA5F-95DC-2629-051F-598F569B6180}"/>
              </a:ext>
            </a:extLst>
          </p:cNvPr>
          <p:cNvSpPr txBox="1"/>
          <p:nvPr/>
        </p:nvSpPr>
        <p:spPr>
          <a:xfrm>
            <a:off x="3367887" y="53017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hlinkClick r:id="rId3"/>
              </a:rPr>
              <a:t>https://www.canirun.ai/</a:t>
            </a:r>
            <a:endParaRPr lang="es-MX" dirty="0"/>
          </a:p>
          <a:p>
            <a:endParaRPr lang="es-MX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Estándar vs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Estándar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1959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directamente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proporcionales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Adecuado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clasificación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extracción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resumen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QA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 dirty="0">
                <a:solidFill>
                  <a:schemeClr val="accent2"/>
                </a:solidFill>
                <a:latin typeface="Calibri"/>
              </a:rPr>
              <a:t>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Genera tokens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razonamiento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antes de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Mejor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problemas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multi-paso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verificables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Multiplica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diseño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14: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cómo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funciona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cuándo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vale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Requisitos que deciden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Confidencialidad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¿Los datos pueden salir? Decide local/API antes que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al volumen esperado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Llamadas por mes × tokens por llamada × precio. Si asusta, pequeño.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 máxima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Interactivo (menos de 1 s) descarta grande y reasoning en la mayoría de los casos.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Calidad mínima medible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mide en el dataset propio (semana 4); los benchmarks públicos solo orientan.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Control de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versiones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Si un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cambio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silencioso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rompe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sistema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falta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abierto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fijada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Capacidad de operar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Sin equipo para operar GPUs, local queda como promesa.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casos discutidos en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726580"/>
              </p:ext>
            </p:extLst>
          </p:nvPr>
        </p:nvGraphicFramePr>
        <p:xfrm>
          <a:off x="548639" y="2557272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dominante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Asistente sobre contratos confidenciales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o nube privada; abierto o cerrado con contrato; mediano; estándar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Clasificador de tickets, 1 M/mes, &lt; 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Costo y latencia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Pequeño; API con modelo pequeño o local por volumen; estándar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Tutor de matemáticas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Grande; API; reasoning solo para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los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difíciles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Las siete preguntas, aplicadas al post-training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problema resuelve?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modelo base continúa texto; una aplicación necesita respuestas con formato y un comportamiento predecible.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funciona?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Seguir entrenando: SFT sobre pares instrucción-respuesta, luego optimización sobre preferencias.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usarlo?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Siempre que se consuma un modelo desde una aplicación: se elige un instruct. El base queda para investigación o fine-tuning propio.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no?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Para agregar conocimiento. Para eso: prompting con contexto o RAG.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evaluarlo?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Con el dataset propio, midiendo formato y corrección por separado (semana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puede fallar?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Alucinación fluida, complacencia, sobre-rechazo, sesgo del anotador, verbosidad.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se llevan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Base e instruct son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máquina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post-training cambia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comportamiento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conserva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conocimiento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SFT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enseña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→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Preference optimization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enseña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preferir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chat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marcadores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construye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Lo que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envía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software.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elige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desde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requisito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dominante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catálogo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viene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Artefacto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matriz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para la mesa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soporte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curso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prompt es la forma de condicionar la distribución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en tiempo de ejecución. Y lo construye la aplicación.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Anatomía de un prompt, ejemplos, restricciones verificables, structured outputs, versionado y regresión. Primera llamada a una API comercial, con registro de tokens y costo.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5973</Words>
  <Application>Microsoft Macintosh PowerPoint</Application>
  <PresentationFormat>Panorámica</PresentationFormat>
  <Paragraphs>578</Paragraphs>
  <Slides>44</Slides>
  <Notes>44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44</vt:i4>
      </vt:variant>
    </vt:vector>
  </HeadingPairs>
  <TitlesOfParts>
    <vt:vector size="48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4</cp:revision>
  <dcterms:created xsi:type="dcterms:W3CDTF">2013-01-27T09:14:16Z</dcterms:created>
  <dcterms:modified xsi:type="dcterms:W3CDTF">2026-09-19T01:03:23Z</dcterms:modified>
  <cp:category/>
</cp:coreProperties>
</file>