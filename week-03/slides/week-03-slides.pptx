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4415" cy="16459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Del modelo base al asistente moderno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E6F4F3"/>
                </a:solidFill>
                <a:latin typeface="Calibri"/>
              </a:rPr>
              <a:t>Semana 3 · Pre-training, SFT, preference optimization y elección de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3F4F6"/>
                </a:solidFill>
                <a:latin typeface="Calibri"/>
              </a:rPr>
              <a:t>Arquitectura de Software para Sistemas Inteligentes · Bloque de fundamentos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pregunta de hoy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Si GPT-2 ya es un Transformer, ¿por qué no se comporta como ChatGPT?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924534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Apertura: qué le falta a GPT-2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50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Datos, pre-training, modelo base, SFT, chat templates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40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Demo: cinco instrucciones en tres modelos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25 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Preference optimization y clasificaciones arquitectónicas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Actividad: matriz de decisión para la mesa de soporte del curso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Cierre y práctica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Tres modelos, un mismo mecanismo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GPT-2, Qwen2.5-0.5B base y Qwen2.5-0.5B-Instruct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Los tres modelos de la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Parámetros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Vocabulario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Post-training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Clase en Transformers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GPT-2 (2019)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124 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50,257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Ninguno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GPT2LMHeadModel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Qwen2.5-0.5B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494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151,665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Ninguno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Qwen2ForCausalLM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Qwen2.5-0.5B-Instruct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494 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151,665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SFT + preference optimization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Qwen2ForCausalLM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Base e instruct de Qwen: misma arquitectura, mismos parámetros, distinto comportamiento.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Cinco instrucciones, tres modelos (resultado de la demo)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Instrucción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GPT-2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Qwen base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Qwen instruct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Resumir en una oración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Repite el texto original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Resume (con errores menores)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Clasificar ticket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Repite la instrucción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error_tecnico (discutible)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Capital de Michoacán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'Michoacán'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Una ciudad equivocada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JSON nombre/edad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Código JavaScript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JSON con texto alrededor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Contraseña de admin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Explica qué es un admin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Rechaza con frase de política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idea de la sesión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El post-training cambia el comportamiento.</a:t>
            </a:r>
          </a:p>
          <a:p>
            <a:pPr algn="ctr">
              <a:spcBef>
                <a:spcPts val="200"/>
              </a:spcBef>
            </a:pPr>
            <a:r>
              <a:rPr sz="2700" b="0">
                <a:solidFill>
                  <a:srgbClr val="FFFFFF"/>
                </a:solidFill>
                <a:latin typeface="Calibri"/>
              </a:rPr>
              <a:t>El mecanismo y el conocimiento se conservan.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Base e instruct predicen el siguiente token con los mismos pesos de pre-training. Lo que aprendieron después es un formato de interacción y una preferencia por ciertas respuestas.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progresión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408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35827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1587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Asistente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Cada flecha es más entrenamiento. Ninguna cambia la arquitectura.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Datos y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De dónde sale el modelo base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408" y="42214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35827" y="45872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1587" y="42214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Asistente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Qué texto entra al pre-training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Web filtrada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Páginas rastreadas, limpiadas y deduplicadas. Es la mayor parte del volumen y define el idioma dominante.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Código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Repositorios públicos. Explica por qué el base de la demo respondió con JavaScript a una petición de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Libros y artículos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Texto largo y bien editado. Mejora coherencia en documentos extensos.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Conversaciones y foros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Preguntas y respuestas. Sin esto, el modelo base tiene aún menos idea de qué es 'responder'.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Datos sintéticos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Texto generado por otros modelos, cada vez más común en familias recientes.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Mezcla por idioma y dominio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Las proporciones deciden qué hace bien el modelo. GPT-2 vio casi solo inglés; Qwen2.5 vio decenas de idiomas.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Preparación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50616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Rastreo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0052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66289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Filtrado de calidad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1817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3938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Deduplicación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3582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1587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Filtrado de contenido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5347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19236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Mezcla por dominio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71125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136885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Tokenización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modelo base es el resultado de estas decisiones de ingeniería.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Pre-training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Una sola señal: predecir el siguiente token</a:t>
            </a:r>
          </a:p>
          <a:p>
            <a:pPr algn="ctr">
              <a:spcBef>
                <a:spcPts val="200"/>
              </a:spcBef>
            </a:pPr>
            <a:r>
              <a:rPr sz="2700" b="0">
                <a:solidFill>
                  <a:srgbClr val="FFFFFF"/>
                </a:solidFill>
                <a:latin typeface="Calibri"/>
              </a:rPr>
              <a:t>sobre billones de tokens de texto.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Ningún ejemplo de 'responder a una instrucción'. Ningún ejemplo de 'rechazar'. Solo texto y su continuación.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hace un modelo base con una instrucción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prompt = ("Clasifica el siguiente ticket en una de estas 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      "categorías: facturacion, acceso, error_tecnico.\n"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      "Ticket: 'No puedo iniciar sesión desde ayer.' 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      "Responde solo con la categoría.\n")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generar(qwen_base, prompt)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-&gt; "Clasifica el siguiente ticket en una de estas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    categorías: facturacion, acceso, error_tecnico.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    Ticket: 'No puedo iniciar sesión desde ayer.'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    Responde solo con..."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Repite la instrucción casi literal.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Es la continuación más probable de ese texto.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No hay falla: el modelo hace su trabajo.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Lo que falta es un formato de interacción.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modelo base sí sigue patrones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patron = """Ticket: 'Me cobraron dos veces este mes.'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Categoría: facturacion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Ticket: 'La app se cierra al abrir reportes.'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Categoría: error_tecnico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Ticket: 'No puedo iniciar sesión desde ayer.'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Categoría:"""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generar(qwen_base, patron)   # -&gt; " error_tecnico"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Con tres ejemplos, el base clasifica.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In-context learning: se estudia en la semana 4.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Existía antes de cualquier post-training.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Los ejemplos viajan en cada llamada: tokens y costo.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Supervised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Enseñar el formato instrucción → respuesta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408" y="42214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35827" y="45872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1587" y="42214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Asistente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SFT: el mismo objetivo, otros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Punto de partida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132588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7" name="Down Arrow 6"/>
          <p:cNvSpPr/>
          <p:nvPr/>
        </p:nvSpPr>
        <p:spPr>
          <a:xfrm>
            <a:off x="6873087" y="224028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Datos nuevos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65176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Dataset de pares (instrucción, respuesta): miles a millones, escritos por personas o generados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873087" y="356616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97764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Mismo objetivo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977640"/>
            <a:ext cx="9265615" cy="86868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Seguir entrenando con next-token prediction sobre la respuesta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873087" y="489204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30352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Resultado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530352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Qué cambia y qué no con SFT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Cambia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La distribución del siguiente token después de una instrucción.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formato: responde y se detiene.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Comportamientos del dataset: idioma, tono, longitud.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Qué hace ante peticiones que el dataset enseñó a rechazar.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No cambia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La arquitectura y el tokenizer.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mecanismo: sigue siendo next-token prediction.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conocimiento del mundo: viene del pre-training.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La tendencia a alucinar hechos con fluidez.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Fine-tuning: la familia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Fine-tuning completo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actualizan todos los pesos. Máxima capacidad de cambio, máximo costo de cómputo y de memoria, y riesgo de olvidar lo aprendido en pre-training.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LoRA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congelan los pesos y se entrenan matrices pequeñas de bajo rango que se suman a las originales. Una fracción del costo. Es la razón por la que el fine-tuning es accesible hoy.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Cuándo tiene sentido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Comportamiento o formato muy específico, en volumen alto, con dataset propio de calidad. Rara vez para agregar conocimiento.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Tres formas de cambiar lo que responde el modelo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Qué cambia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Cuándo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Prompting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El contexto de cada llamada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Instrucciones, formato, ejemplos pocos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Tokens por llamada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La información disponible en cada llamada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Conocimiento externo, cambiante o privado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Retrieval + tokens de contexto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Los pesos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Comportamiento o formato en volumen alto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Dataset + entrenamiento + operación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Siembra para la semana 5. Orden de la escalera: prompting → RAG → fine-tuning.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Chat templates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El chat es texto con marcadores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la aplicación envía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429768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500" b="0">
                <a:solidFill>
                  <a:srgbClr val="111827"/>
                </a:solidFill>
                <a:latin typeface="Courier New"/>
              </a:rPr>
              <a:t>mensajes = [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    {"role": "system", "content": "Eres un asistente breve. Respondes en una oración."},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    {"role": "user",   "content": "¿Qué es un token?"},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]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texto = tok.apply_chat_template(mensajes, add_generation_prompt=True, tokenize=False)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print(texto)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Una lista de mensajes con roles. ¿Es eso lo que ve el modelo?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el modelo 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&lt;|im_start|&gt;system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Eres un asistente breve. Respondes en una oración.&lt;|im_end|&gt;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&lt;|im_start|&gt;user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¿Qué es un token?&lt;|im_end|&gt;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&lt;|im_start|&gt;assistant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Un solo string.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&lt;|im_start|&gt; e &lt;|im_end|&gt; son tokens del vocabulario.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IDs 151644 y 151645 en Qwen2.5.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El SFT vio millones de ejemplos con este formato.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Después de 'assistant\n' aprendió que viene una respuesta.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Si el chat es solo texto...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¿Escribir el template a mano produce la misma respuesta que apply_chat_template?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Dos consecuencias para la arquitectura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Quién construye el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La aplicación decide el system prompt, el orden y qué turnos incluir.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modelo no recuerda nada entre llamadas; todo va en el texto.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Semana 4: esa construcción es ingeniería.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Semana 9: qué incluir cuando hay 200 turnos.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Qué puede salir mal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Si el texto del usuario contiene los marcadores, el modelo no los distingue.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Instrucciones dentro de los datos se leen como instrucciones.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Raíz del prompt injection (semana 4, delimitadores).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modelo no es una frontera de seguridad.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Preference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Enseñar qué respuesta preferir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408" y="42214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35827" y="45872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1587" y="42214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Asistente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Por qué SFT no basta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Para una misma instrucción hay muchas respuestas válidas, y unas son mejores que otras.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SFT imita una respuesta de referencia; no compara respuestas entre sí.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Los criterios que importan son difíciles de escribir como regla: utilidad, honestidad, tono, longitud adecuada, cumplir el formato.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Es más fácil elegir entre dos respuestas que escribir la respuesta perfecta.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De ahí la idea: recolectar comparaciones y entrenar sobre ellas.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Un par de preferencia real (dataset de la demo)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Elegida (score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Prompt: clasifica la reseña como P o 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Respuesta: "P"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Cumple la instrucción y el formato.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Rechazada (score 4.0)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Repite la reseña, agrega '[Answer] N Confidence: 80%'.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Luego dice que es positiva.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Verbosa, contradictoria, ignora el formato.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Reward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Prompt + dos respuestas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819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Anotador elige una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0998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Dataset de pares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177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Entrenar un modelo que puntúa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53356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Reward model: respuesta →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reward model codifica las preferencias del anotador. Nada más.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RLHF en un diagrama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Punto de partida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132588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Instruction model (política)</a:t>
            </a:r>
          </a:p>
        </p:txBody>
      </p:sp>
      <p:sp>
        <p:nvSpPr>
          <p:cNvPr id="7" name="Down Arrow 6"/>
          <p:cNvSpPr/>
          <p:nvPr/>
        </p:nvSpPr>
        <p:spPr>
          <a:xfrm>
            <a:off x="6873087" y="224028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Muestreo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65176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Genera respuestas a prompts nuevos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873087" y="356616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97764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Señal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97764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Reward model las puntúa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873087" y="489204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30352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Optimización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5303520"/>
            <a:ext cx="9265615" cy="86868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Actualizar el modelo para subir el score, sin alejarse demasiado del SFT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DPO: lo mismo sin reward model separado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RLHF clásico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Dos modelos que entrenar: reward model y política.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Muestreo en línea durante el entrenamiento.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Más control, más partes móviles, más costo.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DPO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Optimiza la política directamente sobre los pares.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reward queda implícito en la fórmula.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Más simple de implementar y de reproducir.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Es lo que usan muchos modelos abiertos, incluido Qwen2.5.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hereda el asistente del proceso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Complacencia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 las respuestas que dan la razón fueron preferidas, el modelo tiende a darla. Riesgo en tareas de revisión.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Sobre-rechazo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 rechazar fue premiado en casos dudosos, el modelo rechaza de más. Se ve en clasificadores de contenido.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Seguridad sin conocimiento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premió sonar seguro y útil. El modelo responde con confianza aunque no sepa: la capital equivocada de la demo.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Sesgo del anotador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Idioma, cultura, longitud preferida, formato. Todo lo que el anotador prefirió está en los pesos.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Verbosidad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Los evaluadores tienden a preferir respuestas largas. Muchos asistentes son largos por eso, y cuesta tokens.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Nada de conocimiento nuevo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Los pares enseñan qué preferir. Los hechos siguen viniendo del pre-training.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Volviendo a la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¿El asistente sabe más que el modelo base?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Elegir un modelo desde los 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Cuatro ejes, un requisito dominante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Cuatro ejes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Eje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Qué decide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Requisito típico que lo decide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Abierto / cerrado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Si los pesos son públicos y se pueden ejecutar y modificar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Control, privacidad, reproducibilidad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Local /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Dónde corre y quién lo opera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Confidencialidad, capacidad de operar GPUs, volumen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Pequeño / grande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Calidad frente a costo y latencia por token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Presupuesto, latencia máxima, dificultad de la tarea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Estándar /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Si el modelo genera razonamiento intermedio antes de responder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Tareas multi-paso; el resto rara vez lo justifica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Abierto vs cerrado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Abierto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Pesos descargables: se puede correr local, inspeccionar y hacer fine-tuning.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Versión fija: el modelo no cambia sin que tú lo decidas.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Operarlo es tu problema.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Cerrado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Solo vía API del proveedor.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Suele ir adelante en calidad y en herramientas alrededor.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proveedor puede cambiar o retirar versiones; hay que fijar versión y monitorear.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Pequeño vs grande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Pequeño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Cientos de millones a pocos miles de millones de parámetros.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Barato y rápido por token.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Suficiente para tareas acotadas: clasificar, extraer, formatear.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Corre en CPU o en una GPU modesta.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Se equivoca más en hechos y en instrucciones complejas.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Grande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Mejor en tareas abiertas y multi-paso.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Más caro y más lento por token, siempre.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Requiere API o infraestructura seria.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Tentación de usarlo para todo.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Local vs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Local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Los datos no salen.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Costo fijo de infraestructura, marginal por llamada casi cero.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Latencia controlable.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Tú operas, actualizas y escalas.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Sin infraestructura; pagas por token.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Acceso a los modelos más capaces.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Los datos viajan a un tercero: revisar contrato y retención.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Dependencia de disponibilidad y de cambios del proveedor.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Estándar vs reasoning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Estándar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Responde directamente.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Latencia y costo proporcionales a la respuesta.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Adecuado para clasificación, extracción, resumen, QA con contexto.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Genera tokens de razonamiento antes de la respuesta.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Mejor en problemas multi-paso verificables.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Multiplica latencia y costo por diseño.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Semana 14: cómo funciona y cuándo se mide que vale la pena.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Requisitos que deciden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Confidencialidad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¿Los datos pueden salir? Decide local/API antes que nada.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Costo al volumen esperado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Llamadas por mes × tokens por llamada × precio. Si asusta, pequeño.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Latencia máxima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Interactivo (menos de 1 s) descarta grande y reasoning en la mayoría de los casos.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Calidad mínima medible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mide en el dataset propio (semana 4); los benchmarks públicos solo orientan.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Control de versiones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 un cambio silencioso del modelo rompe el sistema, hace falta abierto o versión fijada.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Capacidad de operar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Sin equipo para operar GPUs, local queda como promesa.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Tres casos discutidos en la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Requisito dominante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Asistente sobre contratos confidenciales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Confidencialidad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Local o nube privada; abierto o cerrado con contrato; mediano; estándar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Clasificador de tickets, 1 M/mes, &lt; 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Costo y latencia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Pequeño; API con modelo pequeño o local por volumen; estándar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Tutor de matemáticas multi-paso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Calidad multi-paso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Grande; API; reasoning solo para los difíciles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Actividad: matriz de decisión para la mesa de soporte del curso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20 minutos, en parejas. Plantilla en exercises/02-matriz-de-decision.md.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Caso: mesa de soporte al cliente. Requisitos dados: confidencialidad de datos de clientes, un millón de tickets al mes, latencia menor a 1 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Un eje por fila: abierto/cerrado, local/API, pequeño/grande, estándar/reasoning.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Cada decisión con el requisito que la justifica. Sin nombres de modelos, sin 'porque lo usa X empresa'.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Identificar el requisito dominante y comprobar que el resto es consistente con él.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Puesta en común: dos parejas defienden requisitos dominantes distintos.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Las siete preguntas, aplicadas al post-training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¿Qué problema resuelve?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Un modelo base continúa texto; una aplicación necesita respuestas con formato y un comportamiento predecible.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¿Cómo funciona?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Seguir entrenando: SFT sobre pares instrucción-respuesta, luego optimización sobre preferencias.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¿Cuándo usarlo?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Siempre que se consuma un modelo desde una aplicación: se elige un instruct. El base queda para investigación o fine-tuning propio.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¿Cuándo no?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Para agregar conocimiento. Para eso: prompting con contexto o RAG.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¿Cómo evaluarlo?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Con el dataset propio, midiendo formato y corrección por separado (semana 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¿Qué puede fallar?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Alucinación fluida, complacencia, sobre-rechazo, sesgo del anotador, verbosidad.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se llevan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Base e instruct son la misma máquina; el post-training cambia el comportamiento y conserva el mecanismo y el conocimiento.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SFT enseña el formato instrucción → respuesta. Preference optimization enseña qué respuesta preferir.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El chat es texto con marcadores que la aplicación construye. Lo que se envía al modelo es una decisión de software.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El modelo se elige desde el requisito dominante; el catálogo viene después.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Artefacto: matriz de decisión para la mesa de soporte del curso.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Semana 4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El prompt es la forma de condicionar la distribución</a:t>
            </a:r>
          </a:p>
          <a:p>
            <a:pPr algn="ctr">
              <a:spcBef>
                <a:spcPts val="200"/>
              </a:spcBef>
            </a:pPr>
            <a:r>
              <a:rPr sz="2700" b="0">
                <a:solidFill>
                  <a:srgbClr val="FFFFFF"/>
                </a:solidFill>
                <a:latin typeface="Calibri"/>
              </a:rPr>
              <a:t>en tiempo de ejecución. Y lo construye la aplicación.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Anatomía de un prompt, ejemplos, restricciones verificables, structured outputs, versionado y regresión. Primera llamada a una API comercial, con registro de tokens y costo.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Práctica 3: elegir el modelo desde los requisitos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Cinco instrucciones de la mesa de soporte sobre base e instruct: predecir, y registrar formato y corrección por separado.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Template escrito a mano para una de ellas; comprobar que reproduce la respuesta.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Tres pares de preferencia para respuestas de soporte, con el criterio explícito y su sesgo.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Matriz de decisión con los tres requisitos dados y el requisito dominante.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Todo en practice/practice.md con starter y plantilla de reporte. Costo: cero. Entrega antes de la semana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