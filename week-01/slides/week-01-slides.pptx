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6459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Sistemas de software con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6F4F3"/>
                </a:solidFill>
                <a:latin typeface="Calibri"/>
              </a:rPr>
              <a:t>¿Qué cambia arquitectónicamente cuando una parte del software deja de ser determinista?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3F4F6"/>
                </a:solidFill>
                <a:latin typeface="Calibri"/>
              </a:rPr>
              <a:t>Semana 1 · Arquitectura de Software para Sistemas Inteligentes · Bloque de Fundamentos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pregunta recurrente del curso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¿Cuál es la solución más simple que satisface correctamente el requisito?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Se repite en las 15 sesiones. La respuesta cambia según el requisito, nunca según la moda.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escalera de decisión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50616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Código determinista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00529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66289" y="2788920"/>
            <a:ext cx="150616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LLM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18178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3938" y="2788920"/>
            <a:ext cx="150616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RAG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35827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1587" y="2788920"/>
            <a:ext cx="150616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Workflow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53476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19236" y="2788920"/>
            <a:ext cx="150616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Agente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71125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36885" y="2788920"/>
            <a:ext cx="150616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Sistema multi-agente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Cada peldaño se sube solo cuando el anterior falla contra un requisito concreto y medible.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Cómo se estudia cada técnica en el curso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8788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Problema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49819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Intuición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50998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Mecanismo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52177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Implementación mínima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53356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Experimento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139440"/>
            <a:ext cx="274320" cy="6705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99229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Falla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34648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00408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Solución arquitectónica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35827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1587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Framework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237006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02766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Producción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Primero el problema y el mecanismo. El framework llega al final, cuando ya se sabe qué esconde.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Siete preguntas para cualquier técnica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2602153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1. ¿Qué problema resuelve?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Si no hay problema, no hay técnica.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9393" y="1325880"/>
            <a:ext cx="2602153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2. ¿Cómo funciona?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El mecanismo, sin magia.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325880"/>
            <a:ext cx="2602153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3. ¿Cuándo usarla?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Requisitos que la justifican.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0901" y="1325880"/>
            <a:ext cx="2602153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4. ¿Cuándo NO usarla?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Tan importante como la anterior.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63340"/>
            <a:ext cx="2602153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5. ¿Cómo evaluarla?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Dataset, criterio, medición.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9393" y="3863340"/>
            <a:ext cx="2602153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6. ¿Qué puede fallar?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Modos de falla conocidos.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3863340"/>
            <a:ext cx="2602153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7. ¿Cuánto cuesta?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Tokens, latencia, dinero, mantenimiento.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Agenda de hoy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924534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Presentación del curso, la pregunta recurrente, qué se va a medir hoy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50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Qué es y qué no es un LLM. Modelo frente a aplicación. Determinismo y probabilidad. Alucinación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Receso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55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Demo con GPT-2: varianza, latencia, temperatura, alucinación, arquitectura mínima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Actividad: clasificar ocho requisitos y bosquejar la arquitectura V0 de la mesa de soporte del curso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  <a:latin typeface="Calibri"/>
                        </a:rPr>
                        <a:t>Casos de uso, conexión con la semana 2, práctica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¿Qué es un LLM?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Y, sobre todo, qué no 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Pregunta de arranque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Cuando le mandas un texto a un LLM, ¿qué hace exactamente el modelo?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Definición operativa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Un LLM es una función que recibe texto y devuelve una distribución de probabilidad sobre el siguiente token.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Todo lo demás (chat, respuestas, razonamiento aparente) se construye repitiendo esa función.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ciclo de generación, sin abrir la caja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Texto de entrada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49819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Modelo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50998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Probabilidades del siguiente token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52177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Elegir un token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53356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Agregarlo al texto y repetir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La semana 2 abre la caja del modelo. Hoy basta con el ciclo.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Qué es y qué no 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Sí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Un modelo estadístico del lenguaje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Un generador de texto condicionado por el contexto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Muy bueno con patrones vistos en entrenamiento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Un componente con latencia y costo variables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No 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Una base de datos: no almacena hechos consultables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Un motor de reglas: no garantiza cumplir una instrucción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Un buscador: no verifica contra una fuente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Una calculadora: no ejecuta aritmética, la imita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Un razonador confiable: puede producir pasos plausibles y falsos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Si le pides esto a un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Petición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Qué produce el modelo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Qué debería hacer la aplicación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Contar las palabras de un texto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Un número plausible, a veces correcto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len(texto.split())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Sumar dos números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Un resultado imitado por patrón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Aritmética en código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¿Qué fecha es hoy?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Una fecha inventada con seguridad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Leer el reloj del sistema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Resumir una queja de un 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Un resumen fluido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Usar el LLM y validar longitud y contenido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Clasificar un correo en cinco categorías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Una categoría, con formato variable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Usar el LLM con formato restringido y validar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Tres de cinco peticiones se resuelven mejor sin modelo. Ese es el punto de la escalera.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Modelo ≠ aplicación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El LLM es una caja; la aplicación es todo lo que la rodea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distinción que organiza el curso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LLM ≠ aplicación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ChatGPT es una aplicación. GPT es el modelo. Lo que el usuario ve es la aplicación.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Arquitectura mínima de una aplicación con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645920" cy="765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Usuario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325880"/>
            <a:ext cx="9265615" cy="76581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Entrada del usuario</a:t>
            </a:r>
          </a:p>
        </p:txBody>
      </p:sp>
      <p:sp>
        <p:nvSpPr>
          <p:cNvPr id="7" name="Down Arrow 6"/>
          <p:cNvSpPr/>
          <p:nvPr/>
        </p:nvSpPr>
        <p:spPr>
          <a:xfrm>
            <a:off x="6873087" y="2137410"/>
            <a:ext cx="27432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03170"/>
            <a:ext cx="1645920" cy="765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Aplicación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503170"/>
            <a:ext cx="2905658" cy="76581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Construcción del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57418" y="2503170"/>
            <a:ext cx="2905658" cy="76581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Llamada al modelo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7396" y="2503170"/>
            <a:ext cx="2905658" cy="76581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Validación de la salida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873087" y="3314700"/>
            <a:ext cx="27432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680460"/>
            <a:ext cx="1645920" cy="765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Observabilidad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3680460"/>
            <a:ext cx="9265615" cy="76581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Registro: latencia, tokens, fallas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873087" y="4491990"/>
            <a:ext cx="27432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57750"/>
            <a:ext cx="1645920" cy="765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Componente probabilístico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4857750"/>
            <a:ext cx="9265615" cy="76581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Modelo de lenguaje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Todo lo que está fuera de la caja naranja es determinista y está bajo control del equipo.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Responsabilidades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El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Genera el siguiente token dado el contexto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No sabe qué aplicación lo llama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No recuerda llamadas anteriores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No verifica lo que dice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No ejecuta acciones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La aplicación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Decide qué texto enviar (el prompt)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Guarda el estado y el historial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Valida la salida antes de usarla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Ejecuta acciones y accede a datos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Mide, registra y decide cuándo no llamar al modelo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Determinista frente a probabilístico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Qué se pierde y qué aparece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Dos formas de contar palabras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400" b="0">
                <a:solidFill>
                  <a:srgbClr val="111827"/>
                </a:solidFill>
                <a:latin typeface="Courier New"/>
              </a:rPr>
              <a:t>def contar_palabras(texto: str) -&gt; int: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return len(texto.split())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# vs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prompt = f"Texto: {texto}\nNúmero de palabras:"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salida = modelo.generar(prompt)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La primera tiene un contrato: misma entrada, misma salida, tiempo constante, sin costo por uso.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La segunda devuelve texto. Puede ser un número, una frase o nada útil.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Predicción antes de ejecutar: si llamamos diez veces con el mismo texto, ¿cuántas salidas distintas obtenemos?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Predicción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Si llamamos diez veces a la función y diez veces al modelo con el mismo texto, ¿qué observamos en salidas y en tiempos?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contrato cambia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Función determinista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Tipo de retorno garantizado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Prueba unitaria: pasa o falla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Latencia estable y despreciable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Costo por llamada: cero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Falla con excepción visible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Llamada a un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Texto libre, formato no garantizado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Prueba estadística sobre un conjunto de casos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Latencia de cientos de ms a segundos, variable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Costo por token de entrada y de salida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Falla en silencio: texto plausible e incorrecto</a:t>
            </a:r>
          </a:p>
        </p:txBody>
      </p:sp>
      <p:sp>
        <p:nvSpPr>
          <p:cNvPr id="9" name="Oval 8"/>
          <p:cNvSpPr/>
          <p:nvPr/>
        </p:nvSpPr>
        <p:spPr>
          <a:xfrm>
            <a:off x="5775807" y="1371600"/>
            <a:ext cx="640080" cy="54864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Requisitos no funcionales que aparecen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Incertidumbre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La salida es una muestra. Hay que validar o aceptar un margen de 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Latencia variable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Depende de la longitud de entrada y salida y de la carga del proveedor.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Costo por uso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Cada llamada cuesta tokens. Un bucle sin control cuesta dinero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Confiabilidad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El proveedor puede fallar o cambiar el modelo. Hace falta timeout y fallback.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Observabilidad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Sin registro de prompts, salidas y latencias no se puede depurar una falla.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Evaluación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No hay prueba que pase o falle; hay mediciones sobre datasets.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Alucinaciones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Una consecuencia del mecanismo, con una respuesta arquitectónica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Antes de definirla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¿Qué es una alucinación, en términos del ciclo de generación que ya vimos?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postura del curso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La alucinación es una consecuencia del mecanismo de generación. Se diseña alrededor de ella.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Ningún prompt la elimina. La validación, el grounding y el humano en el loop la contienen.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Dónde se contiene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50616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Entrada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00529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66289" y="2788920"/>
            <a:ext cx="150616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Modelo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18178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3938" y="2788920"/>
            <a:ext cx="150616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Texto plausible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35827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1587" y="2788920"/>
            <a:ext cx="150616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¿Verificable?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53476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19236" y="2788920"/>
            <a:ext cx="150616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Validador / fuente / humano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71125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36885" y="2788920"/>
            <a:ext cx="150616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La pregunta "¿es verificable?" decide qué validador se necesita. Si nada puede verificarlo, el diseño debe cambiar.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Estrategias frente a la alucinación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Estrategia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Cómo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Cuándo conviene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Semana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Validación posterior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Código que revisa formato, rango, pertenencia a un conjunto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Siempre que la salida alimente a otro software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Restringir la salida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Schema, opciones cerradas, longitud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Clasificación, extracción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Grounding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Dar al modelo la evidencia y exigir citas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Preguntas sobre documentos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 a 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Humano en el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Aprobación antes de una acción o publicación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Acciones con consecuencias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10, 13, 15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No usar el modelo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Código determinista o una consulta a datos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Cuando existe una fuente exacta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Hoy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Demo: GPT-2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Un modelo deliberadamente sencillo para ver el mecanismo sin adornos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Por qué GPT-2 y no un modelo actual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827"/>
                </a:solidFill>
                <a:latin typeface="Calibri"/>
              </a:rPr>
              <a:t>•  Es abierto y gratuito: corre en Colab sin llaves ni créditos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Es pequeño (124 millones de parámetros): cada llamada tarda menos de un segundo en CPU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No tiene instruction tuning: muestra el mecanismo de continuación de texto sin la capa de asistente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Sus fallas son evidentes: no hay que buscar casos raros para ver una alucinación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Es el mismo modelo que se abre por dentro en la semana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Qué se va a observar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2464993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Función vs modelo, diez veces cada uno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59353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5113" y="2788920"/>
            <a:ext cx="2464993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Temperatura 0 y temperatura 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35827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1587" y="2788920"/>
            <a:ext cx="2464993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Un dato verificable: la alucinación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12301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78061" y="2788920"/>
            <a:ext cx="2464993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La arquitectura mínima en 20 líneas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Se miden varianza y latencia. Lo demás se observa.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Bloque 1: diez llamadas, dos contratos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600" b="0">
                <a:solidFill>
                  <a:srgbClr val="111827"/>
                </a:solidFill>
                <a:latin typeface="Courier New"/>
              </a:rPr>
              <a:t>for _ in range(10):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    t = time.perf_counter()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    n = contar_palabras(texto)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    dt = time.perf_counter() - t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    print(n, f"{dt*1e6:.0f} µs")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for _ in range(10):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    t = time.perf_counter()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    salida = generar(prompt, do_sample=True)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    dt = time.perf_counter() - t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    print(repr(salida), f"{dt:.2f} s")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Misma entrada en ambos bucles.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Se registran salida y tiempo por llamada.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Predicción: ¿cuántas salidas distintas produce el modelo?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Bloque 2: temperatura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400" b="0">
                <a:solidFill>
                  <a:srgbClr val="111827"/>
                </a:solidFill>
                <a:latin typeface="Courier New"/>
              </a:rPr>
              <a:t># temperatura 0: siempre el token más probable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generar(prompt, do_sample=False)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# muestreo: una salida distinta cada vez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generar(prompt, do_sample=True, temperature=1.0)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Con temperatura 0 la salida se repite. El sistema parece determinista.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Pregunta: ¿eso lo vuelve determinista? Respuesta en notas.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La semana 2 explica qué hace la temperatura sobre las probabilidades.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Bloque 3: la alucinación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Le pedimos a GPT-2 un dato verificable. Responde con fluidez y con seguridad. ¿Por qué no obedece la instrucción ni se detiene cuando no sabe?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Bloque 4: la arquitectura mínima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400" b="0">
                <a:solidFill>
                  <a:srgbClr val="111827"/>
                </a:solidFill>
                <a:latin typeface="Courier New"/>
              </a:rPr>
              <a:t>def clasificar(texto: str) -&gt; dict: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# 1. construcción del prompt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prompt = construir_prompt(texto)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# 2. componente probabilístico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t = time.perf_counter()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salida = generar(prompt)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latencia = time.perf_counter() - t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# 3. validación determinista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etiqueta = validar(salida, OPCIONES)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# 4. observabilidad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registrar(prompt, salida, etiqueta, latencia)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return {"etiqueta": etiqueta,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        "latencia_s": latencia}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Cuatro responsabilidades, una sola probabilística.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Si validar() devuelve None, la aplicación decide: reintentar, degradar o escalar a un humano.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El registro es lo que permite depurar mañana.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¿Cuándo conviene un LLM?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Casos de uso, anti-casos y la actividad de hoy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Dónde aporta valor y dónde estorba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Aporta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Entrada en lenguaje natural, variada y ambigua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Salida en lenguaje natural: resúmenes, redacción, traducción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Clasificación o extracción donde escribir reglas es inviable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Tolerancia a un margen de error, o validación posible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Estorba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Existe una fuente exacta: un cálculo, una consulta, un reloj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Se exige exactitud total sin forma de validar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La regla cabe en una expresión regular o en un `if`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El costo o la latencia por llamada no caben en el requisito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caso común del curso: una mesa de soporte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Qué entra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Tickets por correo y por formulario web. Texto libre, a veces con datos personales.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Qué hace hoy el equipo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Lee cada ticket, lo clasifica en categoría y prioridad, y redacta la respuesta.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Qué se quiere automatizar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La clasificación y el borrador de respuesta. Un humano aprueba antes de enviar.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Con qué se trabaja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50 tickets etiquetados desde la semana 4; un corpus documental en RAG; herramientas en agentes.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Qué se decide cada semana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Un artefacto de arquitectura sobre este caso. Se entrega en la práctica.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Caso propio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Repetir el artefacto sobre un caso propio (la tesis, por ejemplo) es opcional y sin peso.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Actividad 1: ocho requisitos (10 minutos)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827"/>
                </a:solidFill>
                <a:latin typeface="Calibri"/>
              </a:rPr>
              <a:t>•  Para cada requisito, decidir: código determinista, LLM, o falta información para decidir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Una línea de justificación por requisito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Los requisitos: validar un RFC; resumir una queja; calcular un impuesto; clasificar un correo; traducir un menú; detectar duplicados exactos; redactar una respuesta; extraer fechas de un contrato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Al terminar se comparan respuestas en el grupo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Actividad 2: arquitectura V0 de la mesa de soporte (20 minutos)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645920" cy="765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Entrada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325880"/>
            <a:ext cx="9265615" cy="76581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¿Quién usa el sistema y qué entra?</a:t>
            </a:r>
          </a:p>
        </p:txBody>
      </p:sp>
      <p:sp>
        <p:nvSpPr>
          <p:cNvPr id="7" name="Down Arrow 6"/>
          <p:cNvSpPr/>
          <p:nvPr/>
        </p:nvSpPr>
        <p:spPr>
          <a:xfrm>
            <a:off x="6873087" y="2137410"/>
            <a:ext cx="27432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03170"/>
            <a:ext cx="1645920" cy="765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Núcleo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503170"/>
            <a:ext cx="2905658" cy="76581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¿Qué construye el prompt?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57418" y="2503170"/>
            <a:ext cx="2905658" cy="76581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¿Dónde está el modelo?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7396" y="2503170"/>
            <a:ext cx="2905658" cy="76581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¿Qué valida la salida?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873087" y="3314700"/>
            <a:ext cx="27432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680460"/>
            <a:ext cx="1645920" cy="765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Registro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3680460"/>
            <a:ext cx="9265615" cy="76581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¿Qué se registra en cada llamada?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873087" y="4491990"/>
            <a:ext cx="27432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57750"/>
            <a:ext cx="1645920" cy="765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Lo determinista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4857750"/>
            <a:ext cx="9265615" cy="76581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¿Qué parte del problema se resuelve sin modelo?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Un diagrama de cajas a mano sobre la mesa de soporte. Se entrega como foto o dibujo en la práctica 1.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Lo que cambia, y lo que sigue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Respuesta a la pregunta del título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827"/>
                </a:solidFill>
                <a:latin typeface="Calibri"/>
              </a:rPr>
              <a:t>•  Aparece un componente sin contrato de salida: la validación deja de ser opcional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La falla es silenciosa: la observabilidad deja de ser opcional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La latencia y el costo dependen de cada llamada: hay que medirlos y acotarlos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Las pruebas se vuelven estadísticas: hacen falta datasets y umbrales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La decisión de usar el modelo se toma por requisito, y por defecto se empieza por código determinista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Hoy y la próxima semana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Qué produce el modelo: probabilidades sobre el siguiente token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Varianza, latencia y alucinación medidas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Arquitectura mínima con validación y registro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Semana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Cómo produce esas probabilidades: tokens, embeddings, atención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Por qué la temperatura cambia la varianza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El mismo GPT-2, abierto por dentro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Práctica de la semana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1 · Sistemas de software con LLMs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827"/>
                </a:solidFill>
                <a:latin typeface="Calibri"/>
              </a:rPr>
              <a:t>•  Práctica 1: diez requisitos de la mesa de soporte clasificados, con dos pruebas de concepto medidas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Arquitectura V0 de la mesa de soporte con las cuatro filas y las siete preguntas respondidas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Envolver GPT-2 con validación y registro: cuántas de 20 salidas pasan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Instrucciones, starter y rúbrica en practice/; se entrega antes de la semana 2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Lectura: el primer de vectores y softmax para la semana 2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Sin costo: todo corre en Colab con GPT-2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