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16459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Dentro de un LLM: tokens, Transformers y generación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E6F4F3"/>
                </a:solidFill>
                <a:latin typeface="Calibri"/>
              </a:rPr>
              <a:t>¿Qué ocurre desde que el usuario escribe texto hasta que aparece el siguiente token?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3F4F6"/>
                </a:solidFill>
                <a:latin typeface="Calibri"/>
              </a:rPr>
              <a:t>Semana 2 · Arquitectura de Software para Sistemas Inteligentes · Sesión de 3 horas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quedó abierto la semana pasada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El modelo produce texto plausible y distinto en cada corrida.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Inventa datos con la misma fluidez con la que acierta.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Tarda más cuando genera más texto.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Cobra por tokens, y todavía no sabemos qué es un token.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Hoy: abrir la caja hasta el nivel donde esas cuatro cosas se explican.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Pregunta central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¿Qué ocurre desde que el usuario escribe texto hasta que aparece el siguiente token?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Agenda de la sesión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924534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Recuperar la semana 1. La pregunta central. El mapa de diez pasos.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55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Tokens, embeddings, posición y self-attention (con el ejercicio en papel).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Receso.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55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Notebook guiado: tokens, IDs, logits, atención, decoding, desbordamiento de ventana.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25 min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Actividad: predecir, ejecutar, explicar temperatura y top-p.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  <a:latin typeface="Calibri"/>
                        </a:rPr>
                        <a:t>Consecuencias arquitectónicas. Conexión con la semana 3. Práctica.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mapa completo: de texto a siguiente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Diez pasos. Cada sección de hoy resalta los suyos.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Texto →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La unidad con la que el modelo lee, genera y cobra.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tokenizer y token IDs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Qué es un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Un fragmento de texto del vocabulario del modelo: una palabra, parte de una palabra, un signo, un espacio.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tokenizer parte el texto en fragmentos que ya conoce (GPT-2 usa Byte-Pair Encoding).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Tokens ≠ palabras. 'sentó' se parte en ' sent' + 'ó' porque el vocabulario se construyó con inglés.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token tiene un número fijo: su token ID. El modelo solo ve IDs.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GPT-2: vocabulary de 50,257 tokens. Modelos actuales: 100,000 a 250,000.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Tokenizar con Hugging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0">
                <a:solidFill>
                  <a:srgbClr val="111827"/>
                </a:solidFill>
                <a:latin typeface="Courier New"/>
              </a:rPr>
              <a:t>from transformers import AutoTokenizer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tok = AutoTokenizer.from_pretrained("gpt2")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texto = "El gato se sentó en la alfombra"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ids = tok(texto).input_ids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print(ids)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[9527, 308, 5549, 384, 1908, 10205,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 551, 8591, 435, 69, 2381, 430]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print(tok.convert_ids_to_tokens(ids))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['El', 'Ġg', 'ato', 'Ġse', 'Ġsent', 'Ã³',</a:t>
            </a:r>
          </a:p>
          <a:p>
            <a:pPr algn="l">
              <a:spcBef>
                <a:spcPts val="0"/>
              </a:spcBef>
            </a:pPr>
            <a:r>
              <a:rPr sz="1600" b="0">
                <a:solidFill>
                  <a:srgbClr val="111827"/>
                </a:solidFill>
                <a:latin typeface="Courier New"/>
              </a:rPr>
              <a:t>#  'Ġen', 'Ġla', 'Ġal', 'f', 'omb', 'ra']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'Ġ' marca un espacio antes del token.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'gato' se parte en ' g' + 'ato'.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'alfombra' necesita cuatro tokens.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El mismo texto siempre da los mismos IDs.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español cuesta más tokens que el inglés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10</a:t>
            </a:r>
          </a:p>
        </p:txBody>
      </p:sp>
      <p:pic>
        <p:nvPicPr>
          <p:cNvPr id="5" name="Picture 4" descr="tokens_por_idio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94415" cy="35502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Misma idea, mismo número aproximado de palabras. Con GPT-2, el doble de tokens en español.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Cuatro números que definen al modelo como componente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GPT-2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Qué implica para la aplicación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Vocabulary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50,257 tokens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Todo texto se expresa con esas piezas; nada más existe para el modelo.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1,024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Prompt + salida deben caber. Si no, error o truncado.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Longitud máxima de generación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parámetro (max_new_tokens)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Límite de salida que fija la aplicación; controla latencia y costo.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Tokens por palabra en español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≈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Presupuesto de contexto y costo se calculan en tokens.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Predicción antes de ejecutar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¿Cuántos tokens tiene 'Arquitectura de software para sistemas inteligentes' en GPT-2?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Token IDs → vectores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modelo no calcula con números enteros: calcula con vectores.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embeddings y posición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matriz de embeddings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Una tabla aprendida durante el entrenamiento: 50,257 filas × 768 columnas en GPT-2.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token ID selecciona su fila: un vector de 768 números.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Tokens que aparecen en contextos parecidos terminan con vectores parecidos.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Ese vector es lo único que el modelo sabe del token al entrar. Nada de definición, nada de gramática.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Semana 5: la misma idea, con un modelo dedicado, sirve para buscar documentos por significado.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Información posicional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Self-attention (siguiente sección) mira todos los tokens a la vez y no sabe en qué orden llegaron.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'el perro muerde al niño' y 'el niño muerde al perro' tendrían los mismos vectores sin posición.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GPT-2 aprende un vector por posición (1,024 posiciones) y lo suma al embedding del token.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Modelos actuales usan variantes (rotary embeddings) con la misma finalidad: que la posición sea visible.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Consecuencia: la ventana de contexto es también el número de posiciones que el modelo conoce.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 que entra a los bloques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Cada token entra como un vector de 768 números que mezcla identidad y posición.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Doce vectores para doce tokens. Todavía ninguno sabe nada de los otros.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Self-attention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Cómo cada token averigua qué otros tokens le importan.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bloques Transformer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problema que resuelve la atención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'The cat sat on the mat because it was tired.' ¿A qué se refiere 'it'?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El vector de 'it' entró sin saber nada de 'cat'. Algo tiene que mezclar información entre posiciones.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Tres preguntas por token: Query, Key,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Query (q)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¿Qué información está buscando este token? Para 'it': algo que pueda ser sujeto, singular, un 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2978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Key (k)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¿Qué información ofrece cada token para decidir si es relevante? 'cat' ofrece: sustantivo, singular, animal.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1325880"/>
            <a:ext cx="3545738" cy="4846320"/>
          </a:xfrm>
          <a:prstGeom prst="roundRect">
            <a:avLst/>
          </a:prstGeom>
          <a:solidFill>
            <a:srgbClr val="F3F4F6"/>
          </a:solidFill>
          <a:ln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/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Value (v)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11827"/>
                </a:solidFill>
                <a:latin typeface="Calibri"/>
              </a:rPr>
              <a:t>¿Qué información se combina cuando un token resulta relevante? El contenido de 'cat' que 'it' va a absorber.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Los pasos de self-attention para un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x · W_Q, W_K, W_V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FFFFFF"/>
                </a:solidFill>
                <a:latin typeface="Calibri"/>
              </a:rPr>
              <a:t>→ q, k, v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scores =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q · k de cada token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escalar por √d_k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y enmascarar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softmax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→ pesos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31546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7889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suma ponderada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de los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Se repite para cada token, en paralelo. El resultado es un vector nuevo por token.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fórmula, una sola vez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Attention(Q, K, V) = softmax( Q · Kᵀ / √dk ) ·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Q, K, V: una fila por token  ·  Q·Kᵀ: scores de todos los pares  ·  √dk: escalado  ·  softmax por fila: pesos que suman 1  ·  ·V: mezcla de values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Ejercicio en papel: tres tokens, dimensión 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q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Pesos con máscara causal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Salida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1.00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[1.00, 0.00]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gato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[0,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0.67, gato = 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[0.67, 0.33]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duerme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[1, 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el = 0.25, gato = 0.25, duerme = 0.50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11827"/>
                          </a:solidFill>
                          <a:latin typeface="Calibri"/>
                        </a:rPr>
                        <a:t>[0.75, 0.75]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W_Q y W_V son la identidad; W_K intercambia coordenadas. Solución completa en exercises/02.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Atención real en GPT-2: 'it' mira a 'cat'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25</a:t>
            </a:r>
          </a:p>
        </p:txBody>
      </p:sp>
      <p:pic>
        <p:nvPicPr>
          <p:cNvPr id="5" name="Picture 4" descr="atencion_it_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62798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01497" y="1325880"/>
            <a:ext cx="394155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Capa 4, cabeza 3, sin intervención.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Fila = quién mira (query). Columna = a quién (key).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La fila de 'it' concentra 0.84 en 'cat'.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Nadie programó esta regla: salió del entrenamiento.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Rayado: posiciones futuras, bloqueadas.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Causal masking: por qué el triángulo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El modelo genera de izquierda a derecha. Al calcular el token 5 no existe el token 6.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Durante el entrenamiento sí existe (el texto completo está ahí), así que se bloquea a propósito.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scores hacia posiciones futuras se ponen en −∞ antes del softmax: peso exactamente cero.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Resultado: cada fila de la matriz de atención solo tiene valores a la izquierda de la diagonal.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Esto es lo que hace 'decoder-only' a GPT-2: solo mira hacia atrás.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Otra cabeza, otro patrón: cada token mira al anterior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27</a:t>
            </a:r>
          </a:p>
        </p:txBody>
      </p:sp>
      <p:pic>
        <p:nvPicPr>
          <p:cNvPr id="5" name="Picture 4" descr="atencion_token_prev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62798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01497" y="1325880"/>
            <a:ext cx="394155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Capa 4, cabeza 11.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Diagonal desplazada: peso 1.0 al token previo.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Útil para juntar subpalabras y frases hechas.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Distintas cabezas, distintas preguntas.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Multi-head 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Varias atenciones en paralelo, cada una con sus propias W_Q, W_K, W_V.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cabeza formula una pregunta distinta: sintaxis, correferencia, posición, tema.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GPT-2: 12 cabezas por bloque, 12 bloques. 144 mapas de atención por texto.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Las salidas de las cabezas se concatenan y se proyectan a un solo vector por token.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Más cabezas y más bloques: más capacidad de relacionar, más cómputo, más memoria.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Un bloque Transformer, de arriba a abajo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Entrada: un vector por token</a:t>
            </a:r>
          </a:p>
        </p:txBody>
      </p:sp>
      <p:sp>
        <p:nvSpPr>
          <p:cNvPr id="6" name="Down Arrow 5"/>
          <p:cNvSpPr/>
          <p:nvPr/>
        </p:nvSpPr>
        <p:spPr>
          <a:xfrm>
            <a:off x="5958687" y="174498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110740"/>
            <a:ext cx="11094415" cy="3733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Multi-head self-attention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58687" y="252984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89560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Suma residual + normalization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58687" y="331470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680460"/>
            <a:ext cx="11094415" cy="37338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Feed-forward network (por token)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58687" y="409956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446532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Suma residual + normalization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58687" y="4884420"/>
            <a:ext cx="274320" cy="32004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50180"/>
            <a:ext cx="11094415" cy="373380"/>
          </a:xfrm>
          <a:prstGeom prst="roundRect">
            <a:avLst/>
          </a:prstGeom>
          <a:solidFill>
            <a:srgbClr val="E6F4F3"/>
          </a:solidFill>
          <a:ln w="1587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500" b="0">
                <a:solidFill>
                  <a:srgbClr val="111827"/>
                </a:solidFill>
                <a:latin typeface="Calibri"/>
              </a:rPr>
              <a:t>Salida: un vector por token, mismo tamaño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GPT-2 apila 12 de estos. La salida de uno es la entrada del siguiente.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Feed-forward, residual y normalization en una frase cada uno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Feed-forward: procesa cada token por separado después de que la atención mezcló el contexto.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Residual: cada subcapa suma su resultado a la entrada; la información original nunca se pierde.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Normalization: mantiene la escala de los vectores estable entre bloques.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Las tres son necesarias para entrenar; ninguna cambia la narrativa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Decoder-only, encoder-only y encoder-decoder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5318607" cy="64008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Decoder-only (GPT-2, modelos generativos actuales)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Máscara causal: cada token solo mira hacia atrás.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Entrenado para predecir el siguiente token.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Sirve para generar texto.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Es el tipo de modelo de casi todo el curso.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325880"/>
            <a:ext cx="5318607" cy="640080"/>
          </a:xfrm>
          <a:prstGeom prst="roundRect">
            <a:avLst/>
          </a:prstGeom>
          <a:solidFill>
            <a:srgbClr val="FB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1">
                <a:solidFill>
                  <a:srgbClr val="111827"/>
                </a:solidFill>
                <a:latin typeface="Calibri"/>
              </a:rPr>
              <a:t>Encoder-only (BERT, modelos de embeddings)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5887" y="2103120"/>
            <a:ext cx="5135727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827"/>
                </a:solidFill>
                <a:latin typeface="Calibri"/>
              </a:rPr>
              <a:t>•  Sin máscara causal: cada token mira a todos.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Produce un vector por texto sin generar nada.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Sirve para representar y comparar textos.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111827"/>
                </a:solidFill>
                <a:latin typeface="Calibri"/>
              </a:rPr>
              <a:t>•  Semana 5: con esto se construye el retrieval de RAG.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3F4F6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F3F4F6"/>
                </a:solidFill>
                <a:latin typeface="Calibri"/>
              </a:rPr>
              <a:t>   ·  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D9822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libri"/>
              </a:rPr>
              <a:t>De logits a siguiente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6F4F3"/>
                </a:solidFill>
                <a:latin typeface="Calibri"/>
              </a:rPr>
              <a:t>El modelo no elige. Produce una distribución. Elegir es decisión de la aplicación.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Dónde estamos: logits, softmax, decoding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87880"/>
            <a:ext cx="1889699" cy="100584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Texto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84059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49819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Tokenizer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85238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50998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Token IDs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417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177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Embeddings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7596" y="245364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53356" y="208788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Posición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561045" y="3139440"/>
            <a:ext cx="274320" cy="6705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Bloques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Transformer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84059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49819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Logits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785238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50998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Softmax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52177" y="3855720"/>
            <a:ext cx="1889699" cy="1005840"/>
          </a:xfrm>
          <a:prstGeom prst="roundRect">
            <a:avLst/>
          </a:prstGeom>
          <a:solidFill>
            <a:srgbClr val="D98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Decoding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87596" y="4221480"/>
            <a:ext cx="3200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53356" y="3855720"/>
            <a:ext cx="1889699" cy="100584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0">
                <a:solidFill>
                  <a:srgbClr val="111827"/>
                </a:solidFill>
                <a:latin typeface="Calibri"/>
              </a:rPr>
              <a:t>Siguiente</a:t>
            </a:r>
          </a:p>
          <a:p>
            <a:pPr algn="ctr">
              <a:spcBef>
                <a:spcPts val="200"/>
              </a:spcBef>
            </a:pPr>
            <a:r>
              <a:rPr sz="1300" b="0">
                <a:solidFill>
                  <a:srgbClr val="111827"/>
                </a:solidFill>
                <a:latin typeface="Calibri"/>
              </a:rPr>
              <a:t>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El mismo mapa toda la sesión. Lo resaltado es donde estamos.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Logits y softmax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Tras el último bloque, el vector del último token se proyecta a 50,257 números: los logits.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Un logit por token del vocabulario. Más alto significa más compatible con el contexto.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Softmax convierte los logits en probabilidades: entre 0 y 1, suman 1.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Salida del modelo: una distribución completa sobre el vocabulario.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Todo lo que sigue (elegir un token) ocurre fuera del modelo, en código que controla la aplicación.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La misma distribución, tres temperaturas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35</a:t>
            </a:r>
          </a:p>
        </p:txBody>
      </p:sp>
      <p:pic>
        <p:nvPicPr>
          <p:cNvPr id="5" name="Picture 4" descr="softmax_temper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94415" cy="3328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Temperatura baja concentra la probabilidad en el favorito. Alta la reparte. Los logits no cambian; cambia el softmax.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Greedy y sampling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Greedy: tomar siempre el token más probable. Determinista. Tiende a repetir frases.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Sampling: sortear un token según la distribución. Distinto cada vez. Puede salir un token raro.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Temperature: cuánto se concentra la distribución antes de sortear.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Top-k y top-p: recortar los candidatos antes de sortear, para que lo raro no salga.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Semilla fija + misma configuración = reproducible en local; en APIs no siempre se garantiza.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Top-k y top-p recortan los candidatos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37</a:t>
            </a:r>
          </a:p>
        </p:txBody>
      </p:sp>
      <p:pic>
        <p:nvPicPr>
          <p:cNvPr id="5" name="Picture 4" descr="topk_to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11094415" cy="3328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Calibri"/>
              </a:rPr>
              <a:t>Top-k conserva un número fijo. Top-p conserva los que acumulan una masa de probabilidad. Luego se sortea entre ellos.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Estrategias de decoding: qué controla cada 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Estrategia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greedy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Siempre el más probable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Clasificación, extracción, cualquier salida que otro software consuma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Repetición, salidas planas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Concentra o aplana la distribución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Baja para tareas cerradas; alta para variedad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Alta: incoherencia; cero: repetición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top-k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Sortea entre los k más probables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Cuando se quiere variedad acotada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k fijo ignora la forma de la distribución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top-p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Sortea entre los que suman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Generación abierta con control de calidad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827"/>
                          </a:solidFill>
                          <a:latin typeface="Calibri"/>
                        </a:rPr>
                        <a:t>Con distribuciones planas, muchos candidatos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Generar con distintas estrategias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6656649" cy="48463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300" b="0">
                <a:solidFill>
                  <a:srgbClr val="111827"/>
                </a:solidFill>
                <a:latin typeface="Courier New"/>
              </a:rPr>
              <a:t>def gen(**kw):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   out = model.generate(ids, max_new_tokens=15, **kw)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   return tok.decode(out[0, ids.shape[1]:])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gen(do_sample=False)                        # greedy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temperature=0.2)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temperature=1.5)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top_k=10)</a:t>
            </a:r>
          </a:p>
          <a:p>
            <a:pPr algn="l">
              <a:spcBef>
                <a:spcPts val="0"/>
              </a:spcBef>
            </a:pPr>
            <a:r>
              <a:rPr sz="1300" b="0">
                <a:solidFill>
                  <a:srgbClr val="111827"/>
                </a:solidFill>
                <a:latin typeface="Courier New"/>
              </a:rPr>
              <a:t>gen(do_sample=True, top_p=0.9, top_k=0)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9609" y="1325880"/>
            <a:ext cx="4163446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Calibri"/>
              </a:rPr>
              <a:t>•  max_new_tokens fija la longitud máxima de generación.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do_sample=False ignora temperature, top_k y top_p.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111827"/>
                </a:solidFill>
                <a:latin typeface="Calibri"/>
              </a:rPr>
              <a:t>•  Estos parámetros los decide la aplicación.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Generación autoregresiva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2194560"/>
          </a:xfrm>
          <a:prstGeom prst="round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Un token por pasada completa. El token sale, se agrega al texto y todo vuelve a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944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Cien tokens de salida son cien pasadas por los doce bloques. La latencia crece con la longitud de la salida.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El context window en la práctica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Prompt + tokens generados comparten la ventana. GPT-2: 1,024. Modelos actuales: 128k a 1M.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Al exceder la ventana: error en local; truncado o rechazo en APIs.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Cada token de la ventana participa en la atención: más contexto es más cómputo por token.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Ventana grande no significa que todo lo que quepa se use bien.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Semana 9: decidir qué entra a la ventana es una disciplina propia (context engineering).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Regresar a la semana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94415" cy="2011680"/>
          </a:xfrm>
          <a:prstGeom prst="roundRect">
            <a:avLst/>
          </a:prstGeom>
          <a:solidFill>
            <a:srgbClr val="FBEEE0"/>
          </a:solidFill>
          <a:ln w="15875">
            <a:solidFill>
              <a:srgbClr val="D982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800" b="1">
                <a:solidFill>
                  <a:srgbClr val="111827"/>
                </a:solidFill>
                <a:latin typeface="Calibri"/>
              </a:rPr>
              <a:t>¿Por qué el modelo dio diez respuestas distintas, inventó una fecha y tardó más al escribir más?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114800"/>
            <a:ext cx="11094415" cy="1645920"/>
          </a:xfrm>
          <a:prstGeom prst="roundRect">
            <a:avLst/>
          </a:prstGeom>
          <a:solidFill>
            <a:srgbClr val="E6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2000" b="0">
                <a:solidFill>
                  <a:srgbClr val="111827"/>
                </a:solidFill>
                <a:latin typeface="Calibri"/>
              </a:rPr>
              <a:t>Sampling sobre una distribución (varianza). La fecha inventada era un token probable dado el contexto, sin ninguna verificación (alucinación). Un token por pasada (latencia).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Consecuencias arquitectónicas de lo visto hoy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Tokens son la unidad de costo y de capacidad. Se estiman midiendo con el tokenizer.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ventana es un presupuesto compartido entre entrada y salida.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La varianza es una perilla (temperature, top-p) que la aplicación controla.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Los logits son observables: se puede medir qué tan segura estaba la distribución.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El modelo no verifica nada. La verificación es responsabilidad de la aplicación.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Actividad: predecir, ejecutar, explicar (25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Predecir cuántos tokens tiene una frase propia; tokenizar; comparar.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Predecir el token más probable después de un prefijo; ejecutar; comparar con el top-10.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Cambiar temperature y top-p en el notebook del estudiante y explicar en dos líneas qué cambió y por qué.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Entregable: las tres predicciones con su resultado y la explicación, en el notebook.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Calibri"/>
              </a:rPr>
              <a:t>Semana 3: ¿por qué GPT-2 no se comporta como ChatGPT?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Semana 2 · Tokens, Transformers y generación   ·   Arquitectura de Software para Sistemas Inteligentes</a:t>
            </a:r>
            <a:r>
              <a:rPr sz="1100">
                <a:solidFill>
                  <a:srgbClr val="6B7280"/>
                </a:solidFill>
                <a:latin typeface="Calibri"/>
              </a:rPr>
              <a:t>   · 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11827"/>
                </a:solidFill>
                <a:latin typeface="Calibri"/>
              </a:rPr>
              <a:t>•  Hoy: el mecanismo. GPT-2 y los modelos actuales comparten el mapa de diez pasos.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Lo que cambia es qué distribución aprendió el modelo, y eso lo decide el entrenamiento.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Semana 3: pre-training, modelo base, fine-tuning con instrucciones, preferencias.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Práctica de esta semana: presupuesto de tokens de los 50 tickets, atención sobre un ticket, decoding para clasificar y para redactar.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11827"/>
                </a:solidFill>
                <a:latin typeface="Calibri"/>
              </a:rPr>
              <a:t>•  Lectura sugerida: The Illustrated Transformer (resources/).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