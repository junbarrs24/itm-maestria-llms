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301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00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/>
    <p:restoredTop sz="83398"/>
  </p:normalViewPr>
  <p:slideViewPr>
    <p:cSldViewPr snapToGrid="0" snapToObjects="1">
      <p:cViewPr varScale="1">
        <p:scale>
          <a:sx n="112" d="100"/>
          <a:sy n="112" d="100"/>
        </p:scale>
        <p:origin x="76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928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11094415" cy="164592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Dentro de un LLM: tokens, Transformers y generación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109441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E6F4F3"/>
                </a:solidFill>
                <a:latin typeface="Calibri"/>
              </a:rPr>
              <a:t>¿Qué ocurre desde que el usuario escribe texto hasta que aparece el siguiente token?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937760"/>
            <a:ext cx="110944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F3F4F6"/>
                </a:solidFill>
                <a:latin typeface="Calibri"/>
              </a:rPr>
              <a:t>Semana 2 · </a:t>
            </a:r>
            <a:r>
              <a:rPr sz="1600" b="0" dirty="0" err="1">
                <a:solidFill>
                  <a:srgbClr val="F3F4F6"/>
                </a:solidFill>
                <a:latin typeface="Calibri"/>
              </a:rPr>
              <a:t>Arquitectura</a:t>
            </a:r>
            <a:r>
              <a:rPr sz="1600" b="0" dirty="0">
                <a:solidFill>
                  <a:srgbClr val="F3F4F6"/>
                </a:solidFill>
                <a:latin typeface="Calibri"/>
              </a:rPr>
              <a:t> de Software para Sistemas </a:t>
            </a:r>
            <a:r>
              <a:rPr sz="1600" b="0" dirty="0" err="1">
                <a:solidFill>
                  <a:srgbClr val="F3F4F6"/>
                </a:solidFill>
                <a:latin typeface="Calibri"/>
              </a:rPr>
              <a:t>Inteligentes</a:t>
            </a:r>
            <a:endParaRPr sz="1600" b="0" dirty="0">
              <a:solidFill>
                <a:srgbClr val="F3F4F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quedó abierto la semana pasada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El modelo produce texto plausible y distinto en cada corrida.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Inventa datos con la misma fluidez con la que acierta.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Tarda más cuando genera más texto.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Cobra por tokens, y todavía no sabemos qué es un token.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Hoy: abrir la caja hasta el nivel donde esas cuatro cosas se explican.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A420E-249F-41B8-7D43-7D8EB6CE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E5E27B-A02C-CB97-BBDA-BACC9C3D2EF4}"/>
              </a:ext>
            </a:extLst>
          </p:cNvPr>
          <p:cNvSpPr txBox="1"/>
          <p:nvPr/>
        </p:nvSpPr>
        <p:spPr>
          <a:xfrm>
            <a:off x="548640" y="454521"/>
            <a:ext cx="11094415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 err="1">
                <a:solidFill>
                  <a:srgbClr val="1F2A44"/>
                </a:solidFill>
                <a:latin typeface="Calibri"/>
              </a:rPr>
              <a:t>Pregunta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lang="es-419" sz="3000" b="1" dirty="0">
                <a:solidFill>
                  <a:srgbClr val="1F2A44"/>
                </a:solidFill>
                <a:latin typeface="Calibri"/>
              </a:rPr>
              <a:t>de entrevista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3CC87E-7E4E-53A6-7627-2EFBE14DA0C0}"/>
              </a:ext>
            </a:extLst>
          </p:cNvPr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7D87B4-F84E-E7D9-6BA3-6838408AFD92}"/>
              </a:ext>
            </a:extLst>
          </p:cNvPr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FDD777-2041-3865-E603-0719B209AE0A}"/>
              </a:ext>
            </a:extLst>
          </p:cNvPr>
          <p:cNvSpPr/>
          <p:nvPr/>
        </p:nvSpPr>
        <p:spPr>
          <a:xfrm>
            <a:off x="548640" y="2423160"/>
            <a:ext cx="11094415" cy="201168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111827"/>
                </a:solidFill>
                <a:latin typeface="Calibri"/>
              </a:rPr>
              <a:t>¿</a:t>
            </a:r>
            <a:r>
              <a:rPr lang="es-419" sz="2800" b="1" dirty="0">
                <a:solidFill>
                  <a:srgbClr val="111827"/>
                </a:solidFill>
                <a:latin typeface="Calibri"/>
              </a:rPr>
              <a:t>Por qué los modelos no podían/pueden contar las r en la palabra strawberry</a:t>
            </a:r>
            <a:r>
              <a:rPr sz="2800" b="1" dirty="0">
                <a:solidFill>
                  <a:srgbClr val="111827"/>
                </a:solidFill>
                <a:latin typeface="Calibri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16257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Pregunta central de la sesión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¿Qué ocurre desde que el usuario escribe texto hasta que aparece el siguiente token?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mapa completo: de texto a siguiente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Tokenizer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 IDs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Posición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Bloques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Transformer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84059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49819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Logits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85238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8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Softmax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52177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Decoding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7596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53356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Siguiente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token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Texto →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La unidad con la que el modelo lee, genera y cobra.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tokenizer y token IDs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Tokenizer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Token IDs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Posición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Bloques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Transformer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84059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49819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Logits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85238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8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Softmax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52177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Decoding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7596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53356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Siguiente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El mismo mapa toda la sesión. Lo resaltado es donde estamos.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Qué es un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111827"/>
                </a:solidFill>
                <a:latin typeface="Calibri"/>
              </a:rPr>
              <a:t>•  Un fragmento de texto del vocabulario del modelo: una palabra, parte de una palabra, un signo, un espacio.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El tokenizer parte el texto en fragmentos que ya conoce (GPT-2 usa Byte-Pair Encoding).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Tokens ≠ palabras. 'sentó' se parte en ' sent' + 'ó' porque el vocabulario se construyó con inglés.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Cada token tiene un número fijo: su token ID. El modelo solo ve IDs.</a:t>
            </a:r>
          </a:p>
          <a:p>
            <a:pPr>
              <a:spcBef>
                <a:spcPts val="1000"/>
              </a:spcBef>
            </a:pPr>
            <a:r>
              <a:rPr sz="2200" b="0">
                <a:solidFill>
                  <a:srgbClr val="111827"/>
                </a:solidFill>
                <a:latin typeface="Calibri"/>
              </a:rPr>
              <a:t>•  GPT-2: vocabulary de 50,257 tokens. Modelos actuales: 100,000 a 250,000.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Tokenizar con Hugging 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600" b="0">
                <a:solidFill>
                  <a:srgbClr val="111827"/>
                </a:solidFill>
                <a:latin typeface="Courier New"/>
              </a:rPr>
              <a:t>from transformers import AutoTokenizer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tok = AutoTokenizer.from_pretrained("gpt2")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texto = "El gato se sentó en la alfombra"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ids = tok(texto).input_ids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print(ids)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# [9527, 308, 5549, 384, 1908, 10205,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#  551, 8591, 435, 69, 2381, 430]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print(tok.convert_ids_to_tokens(ids))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# ['El', 'Ġg', 'ato', 'Ġse', 'Ġsent', 'Ã³',</a:t>
            </a:r>
          </a:p>
          <a:p>
            <a:pPr algn="l">
              <a:spcBef>
                <a:spcPts val="0"/>
              </a:spcBef>
            </a:pPr>
            <a:r>
              <a:rPr sz="1600" b="0">
                <a:solidFill>
                  <a:srgbClr val="111827"/>
                </a:solidFill>
                <a:latin typeface="Courier New"/>
              </a:rPr>
              <a:t>#  'Ġen', 'Ġla', 'Ġal', 'f', 'omb', 'ra']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'Ġ' marca un espacio antes del token.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'gato' se parte en ' g' + 'ato'.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'alfombra' necesita cuatro tokens.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El mismo texto siempre da los mismos IDs.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español cuesta más tokens que el inglés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10</a:t>
            </a:r>
          </a:p>
        </p:txBody>
      </p:sp>
      <p:pic>
        <p:nvPicPr>
          <p:cNvPr id="5" name="Picture 4" descr="tokens_por_idio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11094415" cy="35502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Misma idea, mismo número aproximado de palabras. Con GPT-2, el doble de tokens en español.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Cuatro números que definen al modelo como componente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540852"/>
              </p:ext>
            </p:extLst>
          </p:nvPr>
        </p:nvGraphicFramePr>
        <p:xfrm>
          <a:off x="548640" y="1706024"/>
          <a:ext cx="1109441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81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981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Concepto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GPT-2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Qué implica para la aplicación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Vocabulary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50,257 tokens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Todo texto se expresa con esas piezas; nada más existe para el modelo.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Context 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1,024 tokens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Prompt + salida deben caber. Si no, error o truncado.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Longitud máxima de generación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parámetro (max_new_tokens)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Límite de salida que fija la aplicación; controla latencia y costo.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Tokens por palabra en español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≈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Presupuesto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de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contexto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y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costo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se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calculan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en</a:t>
                      </a:r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 tokens.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Predicción antes de ejecutar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231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¿Cuántos tokens tiene 'Arquitectura de software para sistemas inteligentes' en GPT-2?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Token IDs → vectores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El modelo no calcula con números enteros: calcula con vectores.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embeddings y posición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Tokenizer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 IDs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Posición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Bloques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Transformer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84059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49819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Logits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85238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8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Softmax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52177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Decoding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7596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53356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Siguiente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El mismo mapa toda la sesión. Lo resaltado es donde estamos.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matriz de embeddings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endParaRPr lang="es-MX" sz="220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Una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tabla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aprendida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durante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entrenamiento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50,257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filas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× 768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columnas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GPT-2.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Cada token ID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selecciona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su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fila: un vector de 768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números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Tokens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aparecen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parecidos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terminan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vectores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parecidos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Ese vector es 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único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sabe del token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Nada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definición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nada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gramática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Semana 5: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misma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idea, con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dedicado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sirve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buscar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documentos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significado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dirty="0" err="1">
                <a:solidFill>
                  <a:srgbClr val="1F2A44"/>
                </a:solidFill>
                <a:latin typeface="Calibri"/>
              </a:rPr>
              <a:t>Información</a:t>
            </a:r>
            <a:r>
              <a:rPr sz="3000" b="1" dirty="0">
                <a:solidFill>
                  <a:srgbClr val="1F2A44"/>
                </a:solidFill>
                <a:latin typeface="Calibri"/>
              </a:rPr>
              <a:t> </a:t>
            </a:r>
            <a:r>
              <a:rPr sz="3000" b="1" dirty="0" err="1">
                <a:solidFill>
                  <a:srgbClr val="1F2A44"/>
                </a:solidFill>
                <a:latin typeface="Calibri"/>
              </a:rPr>
              <a:t>posicional</a:t>
            </a:r>
            <a:endParaRPr sz="3000" b="1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990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Self-attention (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siguiente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sección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)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todos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tokens a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no sabe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orden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llegaron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'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perro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muerde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niño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' y '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niño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muerde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perro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'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tendrían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mismos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vectores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 sin </a:t>
            </a:r>
            <a:r>
              <a:rPr sz="2200" b="1" dirty="0" err="1">
                <a:solidFill>
                  <a:srgbClr val="111827"/>
                </a:solidFill>
                <a:latin typeface="Calibri"/>
              </a:rPr>
              <a:t>posición</a:t>
            </a:r>
            <a:r>
              <a:rPr sz="2200" b="1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GPT-2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aprende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un vector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posición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(1,024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posiciones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) y 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suma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al embedding del token.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actuales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usan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variantes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(rotary embeddings) con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misma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finalidad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que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posición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sea visible.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Consecuencia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ventana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también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número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posiciones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conoce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 que entra a los bloques Transformer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Cada token entra como un vector de 768 números que mezcla identidad y posición.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Doce vectores para doce tokens. Todavía ninguno sabe nada de los otros.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Self-attention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Cómo cada token averigua qué otros tokens le importan.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bloques Transformer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Tokenizer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 IDs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Posición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85572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Bloques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Transformer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84059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49819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Logits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85238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8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Softmax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52177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Decoding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7596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53356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Siguiente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El mismo mapa toda la sesión. Lo resaltado es donde estamos.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problema que resuelve la atención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 dirty="0">
                <a:solidFill>
                  <a:srgbClr val="FFFFFF"/>
                </a:solidFill>
                <a:latin typeface="Calibri"/>
              </a:rPr>
              <a:t>'The cat sat on the mat because </a:t>
            </a:r>
            <a:r>
              <a:rPr sz="3000" b="1" dirty="0">
                <a:solidFill>
                  <a:schemeClr val="accent6"/>
                </a:solidFill>
                <a:latin typeface="Calibri"/>
              </a:rPr>
              <a:t>it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was tired.' ¿A </a:t>
            </a:r>
            <a:r>
              <a:rPr sz="3000" b="1" dirty="0" err="1">
                <a:solidFill>
                  <a:srgbClr val="FFFFFF"/>
                </a:solidFill>
                <a:latin typeface="Calibri"/>
              </a:rPr>
              <a:t>qué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se </a:t>
            </a:r>
            <a:r>
              <a:rPr sz="3000" b="1" dirty="0" err="1">
                <a:solidFill>
                  <a:srgbClr val="FFFFFF"/>
                </a:solidFill>
                <a:latin typeface="Calibri"/>
              </a:rPr>
              <a:t>refiere</a:t>
            </a:r>
            <a:r>
              <a:rPr sz="3000" b="1" dirty="0">
                <a:solidFill>
                  <a:srgbClr val="FFFFFF"/>
                </a:solidFill>
                <a:latin typeface="Calibri"/>
              </a:rPr>
              <a:t> 'it'?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El vector de 'it' entró sin saber nada de 'cat'. Algo tiene que mezclar información entre posiciones.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Tres preguntas por token: Query, Key,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545738" cy="484632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Query (q)</a:t>
            </a:r>
          </a:p>
          <a:p>
            <a:pPr algn="l">
              <a:spcBef>
                <a:spcPts val="600"/>
              </a:spcBef>
            </a:pPr>
            <a:endParaRPr lang="es-419" sz="1400" b="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b="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¿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información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está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buscando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este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token? Para 'it': algo que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pueda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ser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sujeto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singular, un ser.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978" y="1325880"/>
            <a:ext cx="3545738" cy="484632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Key (k)</a:t>
            </a:r>
          </a:p>
          <a:p>
            <a:pPr algn="l">
              <a:spcBef>
                <a:spcPts val="600"/>
              </a:spcBef>
            </a:pPr>
            <a:endParaRPr lang="es-419" sz="1400" b="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b="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¿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información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ofrece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token para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decidir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si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relevante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? 'cat'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ofrece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sustantivo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, singular, animal.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7316" y="1325880"/>
            <a:ext cx="3545738" cy="4846320"/>
          </a:xfrm>
          <a:prstGeom prst="roundRect">
            <a:avLst/>
          </a:prstGeom>
          <a:solidFill>
            <a:srgbClr val="F3F4F6"/>
          </a:solidFill>
          <a:ln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137160" rtlCol="0" anchor="t"/>
          <a:lstStyle/>
          <a:p>
            <a:pPr algn="l"/>
            <a:r>
              <a:rPr sz="1700" b="1" dirty="0">
                <a:solidFill>
                  <a:srgbClr val="1F2A44"/>
                </a:solidFill>
                <a:latin typeface="Calibri"/>
              </a:rPr>
              <a:t>Value (v)</a:t>
            </a:r>
          </a:p>
          <a:p>
            <a:pPr algn="l">
              <a:spcBef>
                <a:spcPts val="600"/>
              </a:spcBef>
            </a:pPr>
            <a:endParaRPr lang="es-419" sz="1400" b="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b="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endParaRPr lang="es-MX" sz="1400" dirty="0">
              <a:solidFill>
                <a:srgbClr val="111827"/>
              </a:solidFill>
              <a:latin typeface="Calibri"/>
            </a:endParaRPr>
          </a:p>
          <a:p>
            <a:pPr algn="l">
              <a:spcBef>
                <a:spcPts val="600"/>
              </a:spcBef>
            </a:pPr>
            <a:r>
              <a:rPr sz="1400" b="0" dirty="0">
                <a:solidFill>
                  <a:srgbClr val="111827"/>
                </a:solidFill>
                <a:latin typeface="Calibri"/>
              </a:rPr>
              <a:t>¿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información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combina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cuando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un token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resulta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relevante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? El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contenido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de 'cat' que 'it' </a:t>
            </a:r>
            <a:r>
              <a:rPr sz="1400" b="0" dirty="0" err="1">
                <a:solidFill>
                  <a:srgbClr val="111827"/>
                </a:solidFill>
                <a:latin typeface="Calibri"/>
              </a:rPr>
              <a:t>va</a:t>
            </a:r>
            <a:r>
              <a:rPr sz="1400" b="0" dirty="0">
                <a:solidFill>
                  <a:srgbClr val="111827"/>
                </a:solidFill>
                <a:latin typeface="Calibri"/>
              </a:rPr>
              <a:t> a absorber.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Los pasos de self-attention para un token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8892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x · W_Q, W_K, W_V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  <a:latin typeface="Calibri"/>
              </a:rPr>
              <a:t>→ q, k, v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scores =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q · k de cada token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escalar por √d_k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y enmascarar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softmax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→ pesos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31546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7889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suma ponderada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de los 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Se repite para cada token, en paralelo. El resultado es un vector nuevo por token.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fórmula, una sola vez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Attention(Q, K, V) = softmax( Q · Kᵀ / √dk ) · 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B7280"/>
                </a:solidFill>
                <a:latin typeface="Calibri"/>
              </a:rPr>
              <a:t>Q, K, V: una fila por token  ·  Q·Kᵀ: scores de todos los pares  ·  √dk: escalado  ·  softmax por fila: pesos que suman 1  ·  ·V: mezcla de values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Ejercicio en papel: tres tokens, dimensión 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87979"/>
              </p:ext>
            </p:extLst>
          </p:nvPr>
        </p:nvGraphicFramePr>
        <p:xfrm>
          <a:off x="548640" y="2114550"/>
          <a:ext cx="1109441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90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90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Token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q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Pesos con máscara causal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Salida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el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[1, 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[0, 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[1, 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el = 1.00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[1.00, 0.00]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gato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[0,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[1, 0]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[0, 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el = 0.67, gato = 0.33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[0.67, 0.33]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duerme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[1, 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[1, 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[1, 1]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11827"/>
                          </a:solidFill>
                          <a:latin typeface="Calibri"/>
                        </a:rPr>
                        <a:t>el = 0.25, gato = 0.25, duerme = 0.50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111827"/>
                          </a:solidFill>
                          <a:latin typeface="Calibri"/>
                        </a:rPr>
                        <a:t>[0.75, 0.75]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W_Q y W_V son la identidad; W_K intercambia coordenadas. Solución completa en exercises/02.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Atención real en GPT-2: 'it' mira a 'cat'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25</a:t>
            </a:r>
          </a:p>
        </p:txBody>
      </p:sp>
      <p:pic>
        <p:nvPicPr>
          <p:cNvPr id="5" name="Picture 4" descr="atencion_it_c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627984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01497" y="1325880"/>
            <a:ext cx="394155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Capa 4, cabeza 3, sin intervención.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Fila = quién mira (query). Columna = a quién (key).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La fila de 'it' concentra 0.84 en 'cat'.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Nadie programó esta regla: salió del entrenamiento.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Rayado: posiciones futuras, bloqueadas.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Causal masking: por qué el triángulo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652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endParaRPr lang="es-MX" sz="220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genera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izquierda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derecha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calcular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 5 no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existe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 6.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Durante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entrenamiento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sí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existe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(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completo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está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ahí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),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así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bloquea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propósito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Los scores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hacia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posiciones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futuras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ponen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−∞ antes del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softmax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peso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exactamente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cero.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fila de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matriz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atención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solo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tiene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valores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izquierda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la diagonal.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Esto es lo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hace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'decoder-only' a GPT-2: solo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hacia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atrás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Otra cabeza, otro patrón: cada token mira al anterior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27</a:t>
            </a:r>
          </a:p>
        </p:txBody>
      </p:sp>
      <p:pic>
        <p:nvPicPr>
          <p:cNvPr id="5" name="Picture 4" descr="atencion_token_prev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25880"/>
            <a:ext cx="5627984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01497" y="1325880"/>
            <a:ext cx="3941557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Capa 4, cabeza 11.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Diagonal desplazada: peso 1.0 al token previo.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Útil para juntar subpalabras y frases hechas.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Distintas cabezas, distintas preguntas.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Multi-head attention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endParaRPr lang="es-MX" sz="220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Varias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atenciones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paralelo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sus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propias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W_Q, W_K, W_V.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Cada cabeza formula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pregunta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distinta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sintaxis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correferencia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posición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GPT-2: 12 cabezas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bloque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12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bloques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144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mapas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atención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Las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salidas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las cabezas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concatenan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proyectan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un solo vector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Más cabezas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bloques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capacidad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relacionar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cómputo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memoria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Un bloque Transformer, de arriba a abajo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11094415" cy="3733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Entrada: un vector por token</a:t>
            </a:r>
          </a:p>
        </p:txBody>
      </p:sp>
      <p:sp>
        <p:nvSpPr>
          <p:cNvPr id="6" name="Down Arrow 5"/>
          <p:cNvSpPr/>
          <p:nvPr/>
        </p:nvSpPr>
        <p:spPr>
          <a:xfrm>
            <a:off x="5958687" y="174498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2110740"/>
            <a:ext cx="11094415" cy="37338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Multi-head self-attention</a:t>
            </a:r>
          </a:p>
        </p:txBody>
      </p:sp>
      <p:sp>
        <p:nvSpPr>
          <p:cNvPr id="8" name="Down Arrow 7"/>
          <p:cNvSpPr/>
          <p:nvPr/>
        </p:nvSpPr>
        <p:spPr>
          <a:xfrm>
            <a:off x="5958687" y="252984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48640" y="2895600"/>
            <a:ext cx="11094415" cy="3733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Suma residual + normalization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958687" y="331470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48640" y="3680460"/>
            <a:ext cx="11094415" cy="37338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Feed-forward network (por token)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58687" y="409956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48640" y="4465320"/>
            <a:ext cx="11094415" cy="3733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Suma residual + normalization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5958687" y="4884420"/>
            <a:ext cx="274320" cy="32004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5250180"/>
            <a:ext cx="11094415" cy="373380"/>
          </a:xfrm>
          <a:prstGeom prst="roundRect">
            <a:avLst/>
          </a:prstGeom>
          <a:solidFill>
            <a:srgbClr val="E6F4F3"/>
          </a:solidFill>
          <a:ln w="15875">
            <a:solidFill>
              <a:srgbClr val="0E7C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 b="0">
                <a:solidFill>
                  <a:srgbClr val="111827"/>
                </a:solidFill>
                <a:latin typeface="Calibri"/>
              </a:rPr>
              <a:t>Salida: un vector por token, mismo tamaño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GPT-2 apila 12 de estos. La salida de uno es la entrada del siguiente.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Feed-forward, residual y normalization en una frase cada uno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8469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Feed-forward: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procesa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separado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después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que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atención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mezcló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Residual: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subcapa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suma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su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resultado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la entrada;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información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original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nunca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pierde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Normalization: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mantiene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escala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vectores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estable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entre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bloques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Las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tres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necesarias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entrenar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;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ninguna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cambia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narrativa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hoy.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Decoder-only, encoder-only y encoder-decoder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318607" cy="64008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Decoder-only (GPT-2, modelos generativos actuales)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135727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Máscara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causal: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 solo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mira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hacia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atrás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Entrenado para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predecir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siguiente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Sirve para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generar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Es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tipo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casi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todo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curso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325880"/>
            <a:ext cx="5318607" cy="640080"/>
          </a:xfrm>
          <a:prstGeom prst="roundRect">
            <a:avLst/>
          </a:prstGeom>
          <a:solidFill>
            <a:srgbClr val="FB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1">
                <a:solidFill>
                  <a:srgbClr val="111827"/>
                </a:solidFill>
                <a:latin typeface="Calibri"/>
              </a:rPr>
              <a:t>Encoder-only (BERT, modelos de embeddings)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15887" y="2103120"/>
            <a:ext cx="51357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1800" b="0" dirty="0">
              <a:solidFill>
                <a:srgbClr val="111827"/>
              </a:solidFill>
              <a:latin typeface="Calibri"/>
            </a:endParaRPr>
          </a:p>
          <a:p>
            <a:r>
              <a:rPr sz="1800" b="0" dirty="0">
                <a:solidFill>
                  <a:srgbClr val="111827"/>
                </a:solidFill>
                <a:latin typeface="Calibri"/>
              </a:rPr>
              <a:t>•  Sin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máscara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causal: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token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mira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todos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Produce un vector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texto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sin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generar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nada.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Sirve para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representar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y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comparar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textos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800"/>
              </a:spcBef>
            </a:pPr>
            <a:r>
              <a:rPr sz="1800" b="0" dirty="0">
                <a:solidFill>
                  <a:srgbClr val="111827"/>
                </a:solidFill>
                <a:latin typeface="Calibri"/>
              </a:rPr>
              <a:t>•  Semana 5: con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esto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construye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18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1800" b="0" dirty="0">
                <a:solidFill>
                  <a:srgbClr val="111827"/>
                </a:solidFill>
                <a:latin typeface="Calibri"/>
              </a:rPr>
              <a:t> retrieval de RAG.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F3F4F6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F3F4F6"/>
                </a:solidFill>
                <a:latin typeface="Calibri"/>
              </a:rPr>
              <a:t>   ·  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1109441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D9822B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109441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De logits a siguiente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E6F4F3"/>
                </a:solidFill>
                <a:latin typeface="Calibri"/>
              </a:rPr>
              <a:t>El modelo no elige. Produce una distribución. Elegir es decisión de la aplicación.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Dónde estamos: logits, softmax, decoding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87880"/>
            <a:ext cx="1889699" cy="100584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Texto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484059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849819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Tokenizer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85238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150998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Token IDs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86417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52177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Embeddings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87596" y="245364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53356" y="208788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Posición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10561045" y="3139440"/>
            <a:ext cx="274320" cy="670560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48640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Bloques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Transformer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484059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849819" y="385572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Logits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85238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50998" y="385572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Softmax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086417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52177" y="3855720"/>
            <a:ext cx="1889699" cy="1005840"/>
          </a:xfrm>
          <a:prstGeom prst="roundRect">
            <a:avLst/>
          </a:prstGeom>
          <a:solidFill>
            <a:srgbClr val="D98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Decoding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87596" y="4221480"/>
            <a:ext cx="3200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753356" y="3855720"/>
            <a:ext cx="1889699" cy="100584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0">
                <a:solidFill>
                  <a:srgbClr val="111827"/>
                </a:solidFill>
                <a:latin typeface="Calibri"/>
              </a:rPr>
              <a:t>Siguiente</a:t>
            </a:r>
          </a:p>
          <a:p>
            <a:pPr algn="ctr">
              <a:spcBef>
                <a:spcPts val="200"/>
              </a:spcBef>
            </a:pPr>
            <a:r>
              <a:rPr sz="1300" b="0">
                <a:solidFill>
                  <a:srgbClr val="111827"/>
                </a:solidFill>
                <a:latin typeface="Calibri"/>
              </a:rPr>
              <a:t>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El mismo mapa toda la sesión. Lo resaltado es donde estamos.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Logits y softmax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Tras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último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bloque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vector del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último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proyecta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50,257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números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logits.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Un logit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 del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vocabulario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Más alto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significa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compatible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Softmax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convierte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logits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probabilidades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entre 0 y 1, suman 1.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Salida del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distribución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completa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sobre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vocabulario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Todo lo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sigue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(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elegir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un token)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ocurre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fuera del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código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controla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aplicación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La misma distribución, tres temperaturas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35</a:t>
            </a:r>
          </a:p>
        </p:txBody>
      </p:sp>
      <p:pic>
        <p:nvPicPr>
          <p:cNvPr id="5" name="Picture 4" descr="softmax_tempera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737406"/>
            <a:ext cx="11094415" cy="3328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Temperatura baja concentra la probabilidad en el favorito. Alta la reparte. Los logits no cambian; cambia el softmax.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Greedy y sampling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endParaRPr lang="es-MX" sz="220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Greedy: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tomar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siempre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probable.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Determinista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Tiende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repetir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frases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Sampling: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sortear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un token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según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distribución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Distinto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salir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un token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raro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Temperature: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cuánto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concentra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distribución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antes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sortear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Top-k y top-p: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recortar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candidatos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antes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sortear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para que lo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raro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salga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Semilla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fija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+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misma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configuración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= reproducible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local;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APIs no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siempre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garantiza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Top-k y top-p recortan los candidatos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37</a:t>
            </a:r>
          </a:p>
        </p:txBody>
      </p:sp>
      <p:pic>
        <p:nvPicPr>
          <p:cNvPr id="5" name="Picture 4" descr="topk_to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39" y="1737406"/>
            <a:ext cx="11094415" cy="33283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Calibri"/>
              </a:rPr>
              <a:t>Top-k conserva un número fijo. Top-p conserva los que acumulan una masa de probabilidad. Luego se sortea entre ellos.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Estrategias de decoding: qué controla cada una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05719"/>
              </p:ext>
            </p:extLst>
          </p:nvPr>
        </p:nvGraphicFramePr>
        <p:xfrm>
          <a:off x="548639" y="1737360"/>
          <a:ext cx="11094415" cy="252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3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3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Estrategia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Qué hace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Cuándo usarla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Riesgo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greedy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Siempre el más probable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Clasificación, extracción, cualquier salida que otro software consuma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Repetición, salidas planas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temperature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Concentra o aplana la distribución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Baja para tareas cerradas; alta para variedad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Alta: incoherencia; cero: repetición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top-k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Sortea entre los k más probables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Cuando se quiere variedad acotada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k fijo ignora la forma de la distribución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top-p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Sortea entre los que suman 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827"/>
                          </a:solidFill>
                          <a:latin typeface="Calibri"/>
                        </a:rPr>
                        <a:t>Generación abierta con control de calidad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Con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distribuciones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planas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muchos</a:t>
                      </a:r>
                      <a:r>
                        <a:rPr sz="1400" b="0" dirty="0">
                          <a:solidFill>
                            <a:srgbClr val="111827"/>
                          </a:solidFill>
                          <a:latin typeface="Calibr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111827"/>
                          </a:solidFill>
                          <a:latin typeface="Calibri"/>
                        </a:rPr>
                        <a:t>candidatos</a:t>
                      </a:r>
                      <a:endParaRPr sz="1400" b="0" dirty="0">
                        <a:solidFill>
                          <a:srgbClr val="111827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Generar con distintas estrategias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39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6656649" cy="4846320"/>
          </a:xfrm>
          <a:prstGeom prst="rect">
            <a:avLst/>
          </a:prstGeom>
          <a:solidFill>
            <a:srgbClr val="F3F4F6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Ins="182880" rtlCol="0" anchor="t"/>
          <a:lstStyle/>
          <a:p>
            <a:pPr algn="l"/>
            <a:r>
              <a:rPr sz="1300" b="0">
                <a:solidFill>
                  <a:srgbClr val="111827"/>
                </a:solidFill>
                <a:latin typeface="Courier New"/>
              </a:rPr>
              <a:t>def gen(**kw):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    out = model.generate(ids, max_new_tokens=15, **kw)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    return tok.decode(out[0, ids.shape[1]:])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gen(do_sample=False)                        # greedy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gen(do_sample=True, temperature=0.2)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gen(do_sample=True, temperature=1.5)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gen(do_sample=True, top_k=10)</a:t>
            </a:r>
          </a:p>
          <a:p>
            <a:pPr algn="l">
              <a:spcBef>
                <a:spcPts val="0"/>
              </a:spcBef>
            </a:pPr>
            <a:r>
              <a:rPr sz="1300" b="0">
                <a:solidFill>
                  <a:srgbClr val="111827"/>
                </a:solidFill>
                <a:latin typeface="Courier New"/>
              </a:rPr>
              <a:t>gen(do_sample=True, top_p=0.9, top_k=0)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79609" y="1325880"/>
            <a:ext cx="4163446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11827"/>
                </a:solidFill>
                <a:latin typeface="Calibri"/>
              </a:rPr>
              <a:t>•  max_new_tokens fija la longitud máxima de generación.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do_sample=False ignora temperature, top_k y top_p.</a:t>
            </a:r>
          </a:p>
          <a:p>
            <a:pPr>
              <a:spcBef>
                <a:spcPts val="1000"/>
              </a:spcBef>
            </a:pPr>
            <a:r>
              <a:rPr sz="1600" b="0">
                <a:solidFill>
                  <a:srgbClr val="111827"/>
                </a:solidFill>
                <a:latin typeface="Calibri"/>
              </a:rPr>
              <a:t>•  Estos parámetros los decide la aplicación.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Generación autoregresiva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4415" cy="2194560"/>
          </a:xfrm>
          <a:prstGeom prst="round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</a:rPr>
              <a:t>Un token por pasada completa. El token sale, se agrega al texto y todo vuelve a empezar.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297680"/>
            <a:ext cx="110944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s-419" sz="2000" b="0" dirty="0">
              <a:solidFill>
                <a:srgbClr val="6B7280"/>
              </a:solidFill>
              <a:latin typeface="Calibri"/>
            </a:endParaRPr>
          </a:p>
          <a:p>
            <a:pPr algn="ctr"/>
            <a:r>
              <a:rPr sz="2000" b="0" dirty="0" err="1">
                <a:solidFill>
                  <a:srgbClr val="6B7280"/>
                </a:solidFill>
                <a:latin typeface="Calibri"/>
              </a:rPr>
              <a:t>Cien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tokens de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salida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son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cien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pasadas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por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los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doce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bloques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. La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latencia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crece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con la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longitud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 de la </a:t>
            </a:r>
            <a:r>
              <a:rPr sz="2000" b="0" dirty="0" err="1">
                <a:solidFill>
                  <a:srgbClr val="6B7280"/>
                </a:solidFill>
                <a:latin typeface="Calibri"/>
              </a:rPr>
              <a:t>salida</a:t>
            </a:r>
            <a:r>
              <a:rPr sz="2000" b="0" dirty="0">
                <a:solidFill>
                  <a:srgbClr val="6B7280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El context window en la práctica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Prompt + tokens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generados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comparten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ventana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GPT-2: 1,024.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actuales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128k a 1M.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Al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exceder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ventana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error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local;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truncado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rechazo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APIs.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Cada token de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ventana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participa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atención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contexto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más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cómputo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por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Ventana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grande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significa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todo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 que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quepa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se use bien.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Semana 9: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decidir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a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ventana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disciplina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propia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(context engineering).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Regresar a la semana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94415" cy="2011680"/>
          </a:xfrm>
          <a:prstGeom prst="roundRect">
            <a:avLst/>
          </a:prstGeom>
          <a:solidFill>
            <a:srgbClr val="FBEEE0"/>
          </a:solidFill>
          <a:ln w="15875">
            <a:solidFill>
              <a:srgbClr val="D982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111827"/>
                </a:solidFill>
                <a:latin typeface="Calibri"/>
              </a:rPr>
              <a:t>¿Por qué el modelo dio diez respuestas distintas, inventó una fecha y tardó más al escribir más?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114800"/>
            <a:ext cx="11094415" cy="1645920"/>
          </a:xfrm>
          <a:prstGeom prst="roundRect">
            <a:avLst/>
          </a:prstGeom>
          <a:solidFill>
            <a:srgbClr val="E6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000" b="0">
                <a:solidFill>
                  <a:srgbClr val="111827"/>
                </a:solidFill>
                <a:latin typeface="Calibri"/>
              </a:rPr>
              <a:t>Sampling sobre una distribución (varianza). La fecha inventada era un token probable dado el contexto, sin ninguna verificación (alucinación). Un token por pasada (latencia).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Consecuencias arquitectónicas de lo visto hoy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2975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endParaRPr lang="es-MX" sz="220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Tokens son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costo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capacidad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estiman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midiendo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tokenizer.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ventana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un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presupuesto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compartido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entre entrada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salida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varianza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una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perilla (temperature, top-p) que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aplicación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controla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Los logits son observables: se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puede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medir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tan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segura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estaba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distribución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El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no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verifica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nada.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verificación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responsabilidad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la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aplicación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F2A44"/>
                </a:solidFill>
                <a:latin typeface="Calibri"/>
              </a:rPr>
              <a:t>Semana 3: ¿por qué GPT-2 no se comporta como ChatGPT?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43000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Semana 2 · Tokens, Transformers y generación   ·   Arquitectura de Software para Sistemas Inteligentes</a:t>
            </a:r>
            <a:r>
              <a:rPr sz="1100">
                <a:solidFill>
                  <a:srgbClr val="6B7280"/>
                </a:solidFill>
                <a:latin typeface="Calibri"/>
              </a:rPr>
              <a:t>   ·   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11094415" cy="3313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419" sz="2200" b="0" dirty="0">
              <a:solidFill>
                <a:srgbClr val="111827"/>
              </a:solidFill>
              <a:latin typeface="Calibri"/>
            </a:endParaRPr>
          </a:p>
          <a:p>
            <a:endParaRPr lang="es-MX" sz="2200" dirty="0">
              <a:solidFill>
                <a:srgbClr val="111827"/>
              </a:solidFill>
              <a:latin typeface="Calibri"/>
            </a:endParaRPr>
          </a:p>
          <a:p>
            <a:r>
              <a:rPr sz="2200" b="0" dirty="0">
                <a:solidFill>
                  <a:srgbClr val="111827"/>
                </a:solidFill>
                <a:latin typeface="Calibri"/>
              </a:rPr>
              <a:t>•  Hoy: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mecanismo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 GPT-2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actuales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comparten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mapa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diez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pasos.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Lo que cambia es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qué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distribución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aprendió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y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lo decide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el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entrenamiento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Semana 3: pre-training,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modelo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base, fine-tuning con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instrucciones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preferencias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Práctica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esta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semana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presupuesto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de tokens de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los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50 tickets,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atención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sobre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un ticket, decoding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clasificar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 y para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redactar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.</a:t>
            </a:r>
          </a:p>
          <a:p>
            <a:pPr>
              <a:spcBef>
                <a:spcPts val="1000"/>
              </a:spcBef>
            </a:pPr>
            <a:r>
              <a:rPr sz="2200" b="0" dirty="0">
                <a:solidFill>
                  <a:srgbClr val="111827"/>
                </a:solidFill>
                <a:latin typeface="Calibri"/>
              </a:rPr>
              <a:t>•  Lectura </a:t>
            </a:r>
            <a:r>
              <a:rPr sz="2200" b="0" dirty="0" err="1">
                <a:solidFill>
                  <a:srgbClr val="111827"/>
                </a:solidFill>
                <a:latin typeface="Calibri"/>
              </a:rPr>
              <a:t>sugerida</a:t>
            </a:r>
            <a:r>
              <a:rPr sz="2200" b="0" dirty="0">
                <a:solidFill>
                  <a:srgbClr val="111827"/>
                </a:solidFill>
                <a:latin typeface="Calibri"/>
              </a:rPr>
              <a:t>: The Illustrated Transformer (resources/).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6039</Words>
  <Application>Microsoft Macintosh PowerPoint</Application>
  <PresentationFormat>Panorámica</PresentationFormat>
  <Paragraphs>552</Paragraphs>
  <Slides>44</Slides>
  <Notes>40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48" baseType="lpstr">
      <vt:lpstr>Arial</vt:lpstr>
      <vt:lpstr>Calibri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Barrera Valdés</cp:lastModifiedBy>
  <cp:revision>2</cp:revision>
  <dcterms:created xsi:type="dcterms:W3CDTF">2013-01-27T09:14:16Z</dcterms:created>
  <dcterms:modified xsi:type="dcterms:W3CDTF">2026-09-12T02:02:48Z</dcterms:modified>
  <cp:category/>
</cp:coreProperties>
</file>