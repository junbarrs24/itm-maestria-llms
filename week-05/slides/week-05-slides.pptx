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97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99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438"/>
  </p:normalViewPr>
  <p:slideViewPr>
    <p:cSldViewPr snapToGrid="0" snapToObjects="1">
      <p:cViewPr varScale="1">
        <p:scale>
          <a:sx n="116" d="100"/>
          <a:sy n="116" d="100"/>
        </p:scale>
        <p:origin x="60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974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51281"/>
            <a:ext cx="11094415" cy="1323439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dirty="0">
                <a:solidFill>
                  <a:srgbClr val="FFFFFF"/>
                </a:solidFill>
                <a:latin typeface="Calibri"/>
              </a:rPr>
              <a:t>RAG</a:t>
            </a:r>
            <a:r>
              <a:rPr lang="es-419" sz="4000" b="1" dirty="0">
                <a:solidFill>
                  <a:srgbClr val="FFFFFF"/>
                </a:solidFill>
                <a:latin typeface="Calibri"/>
              </a:rPr>
              <a:t> (Retrieval-Augmented Generation)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Fundamentals: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construir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4000" b="1" dirty="0" err="1">
                <a:solidFill>
                  <a:srgbClr val="FFFFFF"/>
                </a:solidFill>
                <a:latin typeface="Calibri"/>
              </a:rPr>
              <a:t>el</a:t>
            </a:r>
            <a:r>
              <a:rPr sz="4000" b="1" dirty="0">
                <a:solidFill>
                  <a:srgbClr val="FFFFFF"/>
                </a:solidFill>
                <a:latin typeface="Calibri"/>
              </a:rPr>
              <a:t> primer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6F4F3"/>
                </a:solidFill>
                <a:latin typeface="Calibri"/>
              </a:rPr>
              <a:t>¿Qué hacemos cuando el modelo necesita información externa?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F3F4F6"/>
                </a:solidFill>
                <a:latin typeface="Calibri"/>
              </a:rPr>
              <a:t>Semana 5 · Arquitectura de Software para Sistemas Inteligentes · Bloque RAG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 la semana 4 a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Question answering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explícito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iba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dentro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del prompt,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escrito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mano.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Delimitadores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formato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structured output: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siguen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igual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 que cambia hoy: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sale de un paso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previo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selecciona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entre miles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fragmentos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Con ese paso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aparece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fuente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nueva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fallas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forma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nueva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medirlas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Pregunta central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39" y="2545435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¿Qué hacemos cuando el modelo necesita información que no vio en su entrenamiento?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El modelo no sabe lo que no vio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Corte de entrenamiento, datos privados, precisión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Dos preguntas sin documentación (modelo local, sin RAG)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438648"/>
              </p:ext>
            </p:extLst>
          </p:nvPr>
        </p:nvGraphicFramePr>
        <p:xfrm>
          <a:off x="548640" y="2020824"/>
          <a:ext cx="1109441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 que dice el corpus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Lo que respondió el modelo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¿Cuántos días tengo para pedir un reembolso?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14 días naturales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"Contacta a servicio al cliente... la duración puede variar"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¿Cuánto vale un código 2FA?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90 segundos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"Generalmente 60 segundos desde su generación"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¿Cuánto dura la sesión por inactividad?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30 minutos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"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Puede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variar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dependiendo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del plan y las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preferencias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"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Tres razones por las que el conocimiento interno falla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52494" y="1962238"/>
            <a:ext cx="3545738" cy="1736297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ctr"/>
            <a:r>
              <a:rPr sz="1700" b="1" dirty="0">
                <a:solidFill>
                  <a:srgbClr val="1F2A44"/>
                </a:solidFill>
                <a:latin typeface="Calibri"/>
              </a:rPr>
              <a:t>Corte de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entrenamiento</a:t>
            </a:r>
            <a:endParaRPr sz="1700" b="1" dirty="0">
              <a:solidFill>
                <a:srgbClr val="1F2A44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El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vio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mundo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hasta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fecha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93768" y="1878773"/>
            <a:ext cx="3545738" cy="1736297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ctr"/>
            <a:r>
              <a:rPr sz="1700" b="1" dirty="0">
                <a:solidFill>
                  <a:srgbClr val="1F2A44"/>
                </a:solidFill>
                <a:latin typeface="Calibri"/>
              </a:rPr>
              <a:t>Datos privados</a:t>
            </a: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Las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políticas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empresa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están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internet. El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nunca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las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vio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73332" y="4139786"/>
            <a:ext cx="3545738" cy="1736297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ctr"/>
            <a:r>
              <a:rPr sz="1700" b="1" dirty="0" err="1">
                <a:solidFill>
                  <a:srgbClr val="1F2A44"/>
                </a:solidFill>
                <a:latin typeface="Calibri"/>
              </a:rPr>
              <a:t>Precisión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sobre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hechos</a:t>
            </a:r>
            <a:endParaRPr sz="1700" b="1" dirty="0">
              <a:solidFill>
                <a:srgbClr val="1F2A44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Aunque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lo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haya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visto, un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dato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exacto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(14 días, E-1003, 99.95 %) es un token entre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 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Sale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 probable, no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111827"/>
                </a:solidFill>
                <a:latin typeface="Calibri"/>
              </a:rPr>
              <a:t>correcto</a:t>
            </a:r>
            <a:r>
              <a:rPr sz="1400" b="1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419" sz="3000" b="1" dirty="0">
                <a:solidFill>
                  <a:srgbClr val="1F2A44"/>
                </a:solidFill>
                <a:latin typeface="Calibri"/>
              </a:rPr>
              <a:t>Técnicas que podemos usar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235032"/>
              </p:ext>
            </p:extLst>
          </p:nvPr>
        </p:nvGraphicFramePr>
        <p:xfrm>
          <a:off x="548640" y="2020824"/>
          <a:ext cx="11094415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Técnica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cambia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Cuándo conviene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Prompting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El contexto de cada llamada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Cabe en el prompt y se conoce de antemano; comportamiento y formato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Tokens por llamada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La información disponible al llamar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Información que cambia, privada, o que hay que citar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Retrieval + tokens de contexto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Fine-tuning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Los pesos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Comportamiento en volumen alto; formato propio; cuando el prompt ya no alcanza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Dataset +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entrenamiento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operación</a:t>
                      </a:r>
                      <a:endParaRPr sz="14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Orden de la escalera: prompting → RAG → fine-tuning. Se sube cuando el anterior falla contra un requisito.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idea de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Buscar primero, generar después: el modelo responde con evidencia que la aplicación le entrega.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6B7280"/>
                </a:solidFill>
                <a:latin typeface="Calibri"/>
              </a:rPr>
              <a:t>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generación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no cambia. Cambia de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dónde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sale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1" dirty="0" err="1">
                <a:solidFill>
                  <a:srgbClr val="6B7280"/>
                </a:solidFill>
                <a:latin typeface="Calibri"/>
              </a:rPr>
              <a:t>contexto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El pipeline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 un documento a una respuesta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Documento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Indexar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Recuperar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87596" y="426720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7897" y="390144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Construir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contexto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Generar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6B7280"/>
                </a:solidFill>
                <a:latin typeface="Calibri"/>
              </a:rPr>
              <a:t>Hoy se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construye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completo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 y a mano. Los frameworks lo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esconden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; primero hay que </a:t>
            </a:r>
            <a:r>
              <a:rPr sz="1600" b="0" dirty="0" err="1">
                <a:solidFill>
                  <a:srgbClr val="6B7280"/>
                </a:solidFill>
                <a:latin typeface="Calibri"/>
              </a:rPr>
              <a:t>verlo</a:t>
            </a:r>
            <a:r>
              <a:rPr sz="1600" b="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Ingesta frente a consulta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Ingesta (una vez por documento)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1" dirty="0">
                <a:solidFill>
                  <a:srgbClr val="111827"/>
                </a:solidFill>
                <a:latin typeface="Calibri"/>
              </a:rPr>
              <a:t>Parse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de PDF, HTML o markdown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limpio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1" dirty="0">
                <a:solidFill>
                  <a:srgbClr val="111827"/>
                </a:solidFill>
                <a:latin typeface="Calibri"/>
              </a:rPr>
              <a:t>Chunk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partir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unidades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recuperables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1" dirty="0">
                <a:solidFill>
                  <a:srgbClr val="111827"/>
                </a:solidFill>
                <a:latin typeface="Calibri"/>
              </a:rPr>
              <a:t>Embed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un vector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chunk.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1" dirty="0" err="1">
                <a:solidFill>
                  <a:srgbClr val="111827"/>
                </a:solidFill>
                <a:latin typeface="Calibri"/>
              </a:rPr>
              <a:t>Indexar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guardar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vectores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buscar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rápido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Consulta (por cada pregunta)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1" dirty="0" err="1">
                <a:solidFill>
                  <a:srgbClr val="111827"/>
                </a:solidFill>
                <a:latin typeface="Calibri"/>
              </a:rPr>
              <a:t>Recuperar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k chunks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parecidos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Construir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envolverlos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delimitadores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referencias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Generar</a:t>
            </a:r>
            <a:r>
              <a:rPr lang="es-419" sz="1800" b="0" dirty="0">
                <a:solidFill>
                  <a:srgbClr val="111827"/>
                </a:solidFill>
                <a:latin typeface="Calibri"/>
              </a:rPr>
              <a:t>.</a:t>
            </a:r>
            <a:endParaRPr lang="es-419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Registrar: tokens,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latencia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fuentes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parse y chunk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Documento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Indexar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07636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Recuperar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7065740" y="45643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52176" y="4203298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Construir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contexto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9350200" y="45643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7" y="4261707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 dirty="0" err="1">
                <a:solidFill>
                  <a:srgbClr val="111827"/>
                </a:solidFill>
                <a:latin typeface="Calibri"/>
              </a:rPr>
              <a:t>Generar</a:t>
            </a:r>
            <a:endParaRPr sz="1600" b="0" dirty="0">
              <a:solidFill>
                <a:srgbClr val="11182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Dos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formas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de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partir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un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documento</a:t>
            </a:r>
            <a:r>
              <a:rPr lang="es-419" sz="3000" b="1" dirty="0">
                <a:solidFill>
                  <a:srgbClr val="1F2A44"/>
                </a:solidFill>
                <a:latin typeface="Calibri"/>
              </a:rPr>
              <a:t> (no son todas, eh)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Chunking fijo (800 caracteres, 100 de traslape)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96 chunks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corpus.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Tamaño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uniforme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fácil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razonar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Corta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mitad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frase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mezcla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secciones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traslape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evita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perder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oración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frontera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Chunking por sección (encabezados ## y ###)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215 chunks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corpus.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Cada chunk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sola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cosa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i="1" u="sng" dirty="0" err="1">
                <a:solidFill>
                  <a:srgbClr val="111827"/>
                </a:solidFill>
                <a:latin typeface="Calibri"/>
              </a:rPr>
              <a:t>Tamaños</a:t>
            </a:r>
            <a:r>
              <a:rPr sz="1800" b="0" i="1" u="sng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i="1" u="sng" dirty="0" err="1">
                <a:solidFill>
                  <a:srgbClr val="111827"/>
                </a:solidFill>
                <a:latin typeface="Calibri"/>
              </a:rPr>
              <a:t>desiguales</a:t>
            </a:r>
            <a:r>
              <a:rPr sz="1800" b="0" i="1" u="sng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(de 40 a 1,300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caracteres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).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Requiere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documento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tenga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estructura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Tamaños de chunk en el corpus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15</a:t>
            </a:r>
          </a:p>
        </p:txBody>
      </p:sp>
      <p:pic>
        <p:nvPicPr>
          <p:cNvPr id="5" name="Picture 4" descr="tamanos_chu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1190" y="1325880"/>
            <a:ext cx="9209314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unidad de chunking decide qué puede recuperarse después. Es la primera decisión de ingeniería del pipeline.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embed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Documento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Embed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Indexar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07636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Recuperar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64736" y="4582925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75037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Construir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contexto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7097434" y="45872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73857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Generar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10853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>
                <a:solidFill>
                  <a:srgbClr val="1F2A44"/>
                </a:solidFill>
                <a:latin typeface="Calibri"/>
              </a:rPr>
              <a:t>Embeddings:</a:t>
            </a:r>
            <a:r>
              <a:rPr lang="es-419" sz="30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lang="es-419" sz="3000" b="1" dirty="0">
                <a:solidFill>
                  <a:srgbClr val="1F2A44"/>
                </a:solidFill>
                <a:latin typeface="Calibri"/>
              </a:rPr>
              <a:t>¿Qué son?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C1779-2C37-F9C8-BAC1-4CB8F9CC2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49057B-5262-DD73-8797-C5F3A627A1A0}"/>
              </a:ext>
            </a:extLst>
          </p:cNvPr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Embeddings: representar el texto como un vector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741879-1B5F-AB49-4737-8F673D33F3B0}"/>
              </a:ext>
            </a:extLst>
          </p:cNvPr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4239C7-A0D3-5B53-EBA3-CBBCDD4C70FA}"/>
              </a:ext>
            </a:extLst>
          </p:cNvPr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A6C9DC-4CD5-FC45-8B31-647DC699C677}"/>
              </a:ext>
            </a:extLst>
          </p:cNvPr>
          <p:cNvSpPr txBox="1"/>
          <p:nvPr/>
        </p:nvSpPr>
        <p:spPr>
          <a:xfrm>
            <a:off x="548640" y="1325880"/>
            <a:ext cx="11094415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embeddings lee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chunk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completo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produce 384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números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Es un encoder (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2): sin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máscara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causal,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produce un 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vector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lugar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hablan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quedan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cerca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cercanía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coseno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pares (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pasaje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relevante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):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aprende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acercar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lo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hoy: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multilingüe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118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parámetros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corre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CPU.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Embebe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215 chunks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menos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segundo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784557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Cosine similarity con números pequeños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a = [1, 2, 0]        b = [2, 4, 0]        c = [0, 0, 3]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cos(a, b) = (a · b) / (|a| |b|) = 10 / (2.24 · 4.47) = 1.0   # misma dirección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cos(a, c) = 0 / (2.24 · 3.0)                       = 0.0   # ortogonales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# Si a y b están normalizados (norma 1), el producto punto ya es el coseno: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a_n · b_n = 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La magnitud no importa; la dirección sí.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Por eso se normalizan los vectores al indexar: buscar es un producto punto.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El ejemplo completo está en examples/similitud_coseno.py.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Cosenos entre seis frases reales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19</a:t>
            </a:r>
          </a:p>
        </p:txBody>
      </p:sp>
      <p:pic>
        <p:nvPicPr>
          <p:cNvPr id="5" name="Picture 4" descr="matriz_cose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671028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01497" y="1325880"/>
            <a:ext cx="394155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0 y 1 son paráfrasis: 0.72.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0 y 2: pregunta y pasaje que la responde: 0.70.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3 y 4 comparten tema y un término exacto: 0.52.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fila 5 (un código de error) se parece poco a todo: los códigos exactos son terreno de la búsqueda lexical (semana 7).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indexar y recuperar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Documento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Indexar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3355" y="42214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Recuperar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96961" y="4597431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7897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Construir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contexto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7086417" y="45872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7" y="4225152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Generar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índice en cinco líneas de numpy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E = emb.encode([c["texto"] for c in chunks], normalize_embeddings=True)   # (215, 384)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v = emb.encode([pregunta], normalize_embeddings=True)[0]                  # (384,)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scores = E @ v                                                            # 215 cosenos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orden = np.argsort(-scores)[:5]                                           # top-5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evidencia = [chunks[i] for i in orden]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4473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111827"/>
                </a:solidFill>
                <a:latin typeface="Calibri"/>
              </a:rPr>
              <a:t>•  Esto es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mecanismo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completo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FAISS</a:t>
            </a:r>
            <a:r>
              <a:rPr lang="es-419" sz="1600" dirty="0">
                <a:solidFill>
                  <a:srgbClr val="111827"/>
                </a:solidFill>
              </a:rPr>
              <a:t> (Facebook AI Similarity Search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hace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lo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mismo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estructuras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escalan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vectores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Con 215 chunks, FAISS y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numpy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devuelven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exactamente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mismos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cinco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  <a:endParaRPr lang="es-419" sz="1600" b="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endParaRPr lang="es-MX" sz="160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lang="es-MX" sz="1600" b="0" dirty="0">
                <a:solidFill>
                  <a:srgbClr val="111827"/>
                </a:solidFill>
                <a:latin typeface="Calibri"/>
              </a:rPr>
              <a:t>Otras bases de datos que tenemos: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11827"/>
                </a:solidFill>
                <a:latin typeface="Calibri"/>
              </a:rPr>
              <a:t>Pinecone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MX" sz="1600" b="0" dirty="0">
                <a:solidFill>
                  <a:srgbClr val="111827"/>
                </a:solidFill>
                <a:latin typeface="Calibri"/>
              </a:rPr>
              <a:t>ChromaDb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11827"/>
                </a:solidFill>
                <a:latin typeface="Calibri"/>
              </a:rPr>
              <a:t>Weaviate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MX" sz="1600" b="0" dirty="0">
                <a:solidFill>
                  <a:srgbClr val="111827"/>
                </a:solidFill>
                <a:latin typeface="Calibri"/>
              </a:rPr>
              <a:t>Qdrant</a:t>
            </a:r>
          </a:p>
          <a:p>
            <a:pPr marL="285750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111827"/>
                </a:solidFill>
                <a:latin typeface="Calibri"/>
              </a:rPr>
              <a:t>PostgresSQL (sí, aunque no lo creas)</a:t>
            </a:r>
            <a:endParaRPr sz="1600" b="0" dirty="0">
              <a:solidFill>
                <a:srgbClr val="11182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Top-10 para una pregunta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22</a:t>
            </a:r>
          </a:p>
        </p:txBody>
      </p:sp>
      <p:pic>
        <p:nvPicPr>
          <p:cNvPr id="5" name="Picture 4" descr="similitud_top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1595" y="1325880"/>
            <a:ext cx="8408504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sección con la política vigente (naranja) está en el top-3. Dos vecinos hablan del mismo tema con otros datos.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construir contexto y generar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7076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Documento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Parse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Chunk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63652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27076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Indexar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322320"/>
            <a:ext cx="274320" cy="8534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753356" y="42214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Recuperar</a:t>
            </a:r>
          </a:p>
        </p:txBody>
      </p:sp>
      <p:sp>
        <p:nvSpPr>
          <p:cNvPr id="16" name="Right Arrow 15"/>
          <p:cNvSpPr/>
          <p:nvPr/>
        </p:nvSpPr>
        <p:spPr>
          <a:xfrm rot="10800000">
            <a:off x="9387596" y="45872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52176" y="42214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Construir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contexto</a:t>
            </a:r>
          </a:p>
        </p:txBody>
      </p:sp>
      <p:sp>
        <p:nvSpPr>
          <p:cNvPr id="18" name="Right Arrow 17"/>
          <p:cNvSpPr/>
          <p:nvPr/>
        </p:nvSpPr>
        <p:spPr>
          <a:xfrm rot="10800000">
            <a:off x="7086417" y="45872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6" y="42214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Generar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contexto que ve el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endParaRPr lang="es-419" sz="1100" b="0" dirty="0">
              <a:solidFill>
                <a:srgbClr val="111827"/>
              </a:solidFill>
              <a:latin typeface="Courier New"/>
            </a:endParaRPr>
          </a:p>
          <a:p>
            <a:pPr algn="l"/>
            <a:r>
              <a:rPr sz="1100" b="0" dirty="0">
                <a:solidFill>
                  <a:srgbClr val="111827"/>
                </a:solidFill>
                <a:latin typeface="Courier New"/>
              </a:rPr>
              <a:t>&lt;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evidencia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id="1"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fuente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="06-politica-reembolsos-y-cargos.md#Plazo"&gt;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##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Plazo</a:t>
            </a:r>
            <a:endParaRPr sz="1100" b="0" dirty="0">
              <a:solidFill>
                <a:srgbClr val="111827"/>
              </a:solidFill>
              <a:latin typeface="Courier New"/>
            </a:endParaRP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El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reembolso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se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solicita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dentro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de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los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14 días naturales posteriores al cargo...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&lt;/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evidencia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&lt;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evidencia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id="2"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fuente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="10-notas-de-version.md#Política de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reembolsos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"&gt;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...30 días...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&lt;/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evidencia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&lt;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pregunta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&gt;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¿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Cuántos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días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tengo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para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solicitar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el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reembolso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 de un cargo?</a:t>
            </a:r>
          </a:p>
          <a:p>
            <a:pPr algn="l">
              <a:spcBef>
                <a:spcPts val="0"/>
              </a:spcBef>
            </a:pPr>
            <a:r>
              <a:rPr sz="1100" b="0" dirty="0">
                <a:solidFill>
                  <a:srgbClr val="111827"/>
                </a:solidFill>
                <a:latin typeface="Courier New"/>
              </a:rPr>
              <a:t>&lt;/</a:t>
            </a:r>
            <a:r>
              <a:rPr sz="1100" b="0" dirty="0" err="1">
                <a:solidFill>
                  <a:srgbClr val="111827"/>
                </a:solidFill>
                <a:latin typeface="Courier New"/>
              </a:rPr>
              <a:t>pregunta</a:t>
            </a:r>
            <a:r>
              <a:rPr sz="1100" b="0" dirty="0">
                <a:solidFill>
                  <a:srgbClr val="111827"/>
                </a:solidFill>
                <a:latin typeface="Courier New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600" b="0" dirty="0">
              <a:solidFill>
                <a:srgbClr val="111827"/>
              </a:solidFill>
              <a:latin typeface="Calibri"/>
            </a:endParaRPr>
          </a:p>
          <a:p>
            <a:r>
              <a:rPr sz="16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Delimitadores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4):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distingue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  <a:endParaRPr lang="es-419" sz="1600" b="0" dirty="0">
              <a:solidFill>
                <a:srgbClr val="111827"/>
              </a:solidFill>
              <a:latin typeface="Calibri"/>
            </a:endParaRPr>
          </a:p>
          <a:p>
            <a:endParaRPr sz="1600" b="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Cada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fragmento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lleva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referencia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citable: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archivo#sección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  <a:endParaRPr lang="es-419" sz="1600" b="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endParaRPr sz="1600" b="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orden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y la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cantidad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fragmentos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son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decisiones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de la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system prompt: tres reglas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100" b="0">
                <a:solidFill>
                  <a:srgbClr val="111827"/>
                </a:solidFill>
                <a:latin typeface="Courier New"/>
              </a:rPr>
              <a:t>Eres el asistente de soporte de Facturio.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Respondes únicamente con la evidencia que se te entrega, en español y en máximo tres oraciones.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Al final de cada afirmación cita la fuente entre corchetes con el formato [archivo#sección].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Si la evidencia no contiene la respuesta, responde exactamente:</a:t>
            </a:r>
          </a:p>
          <a:p>
            <a:pPr algn="l">
              <a:spcBef>
                <a:spcPts val="0"/>
              </a:spcBef>
            </a:pPr>
            <a:r>
              <a:rPr sz="1100" b="0">
                <a:solidFill>
                  <a:srgbClr val="111827"/>
                </a:solidFill>
                <a:latin typeface="Courier New"/>
              </a:rPr>
              <a:t>"No tengo evidencia en la documentación para responder eso."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600" b="0" dirty="0">
              <a:solidFill>
                <a:srgbClr val="111827"/>
              </a:solidFill>
              <a:latin typeface="Calibri"/>
            </a:endParaRPr>
          </a:p>
          <a:p>
            <a:r>
              <a:rPr sz="1600" b="0" dirty="0">
                <a:solidFill>
                  <a:srgbClr val="111827"/>
                </a:solidFill>
                <a:latin typeface="Calibri"/>
              </a:rPr>
              <a:t>•  Grounding: solo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Citas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verificables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un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humano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1600" b="0" dirty="0">
                <a:solidFill>
                  <a:srgbClr val="111827"/>
                </a:solidFill>
                <a:latin typeface="Calibri"/>
              </a:rPr>
              <a:t>•  Answerability: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frase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 exacta, detectable con </a:t>
            </a:r>
            <a:r>
              <a:rPr sz="1600" b="0" dirty="0" err="1">
                <a:solidFill>
                  <a:srgbClr val="111827"/>
                </a:solidFill>
                <a:latin typeface="Calibri"/>
              </a:rPr>
              <a:t>código</a:t>
            </a:r>
            <a:r>
              <a:rPr sz="16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Answerability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Cuando no hay evidencia, la respuesta correcta es decir que no la hay.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6B7280"/>
                </a:solidFill>
                <a:latin typeface="Calibri"/>
              </a:rPr>
              <a:t>Un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sistema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que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siempre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responde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es un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sistema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que 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veces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inventa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frase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exacta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convierte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ausencia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en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una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señal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que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el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código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puede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manejar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CACB1-3071-043D-ADFE-2BF75C5AB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B83133-3E7F-BCEC-0172-EB63B1CD04BB}"/>
              </a:ext>
            </a:extLst>
          </p:cNvPr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s-419" sz="3000" b="1" dirty="0">
                <a:solidFill>
                  <a:srgbClr val="1F2A44"/>
                </a:solidFill>
                <a:latin typeface="Calibri"/>
              </a:rPr>
              <a:t>Pregunta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24177-520F-6CA1-A600-FF1195752AD6}"/>
              </a:ext>
            </a:extLst>
          </p:cNvPr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09F431-15E8-61A9-0F21-2226C4EBC796}"/>
              </a:ext>
            </a:extLst>
          </p:cNvPr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26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87FFC4-4E27-D413-D1D6-98D966663454}"/>
              </a:ext>
            </a:extLst>
          </p:cNvPr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s-419" sz="3000" b="1" dirty="0">
                <a:solidFill>
                  <a:srgbClr val="FFFFFF"/>
                </a:solidFill>
                <a:latin typeface="Calibri"/>
              </a:rPr>
              <a:t>¿Por qué funciona RAG?</a:t>
            </a:r>
            <a:endParaRPr sz="3000" b="1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41353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" y="2950317"/>
            <a:ext cx="1109441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419" sz="3800" b="1" dirty="0">
                <a:solidFill>
                  <a:srgbClr val="FFFFFF"/>
                </a:solidFill>
                <a:latin typeface="Calibri"/>
              </a:rPr>
              <a:t>Práctica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: RAG </a:t>
            </a:r>
            <a:r>
              <a:rPr sz="3800" b="1" dirty="0" err="1">
                <a:solidFill>
                  <a:srgbClr val="FFFFFF"/>
                </a:solidFill>
                <a:latin typeface="Calibri"/>
              </a:rPr>
              <a:t>completo</a:t>
            </a:r>
            <a:r>
              <a:rPr sz="3800" b="1" dirty="0">
                <a:solidFill>
                  <a:srgbClr val="FFFFFF"/>
                </a:solidFill>
                <a:latin typeface="Calibri"/>
              </a:rPr>
              <a:t> sin framework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corpus del curso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Doce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documentos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español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Facturio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manuales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políticas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catálogo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errores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notas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versión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seguridad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comunicado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10,560 palabras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encabezados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partir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estructura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Gold set de 30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tipadas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factuales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exactas,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conceptuales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sin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contradicciones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multi-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documento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Rasgos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propósito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códigos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montos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exactos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dos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contradicciones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fecha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escondida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documento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Los tickets de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4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corpus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se va a observar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3423818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Sin RAG: hechos trampa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817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3938" y="2087880"/>
            <a:ext cx="3423818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Chunking en dos formas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85347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19236" y="2087880"/>
            <a:ext cx="3423818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Embeddings e índice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79398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219236" y="3855720"/>
            <a:ext cx="3423818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Contexto y generación</a:t>
            </a:r>
          </a:p>
        </p:txBody>
      </p:sp>
      <p:sp>
        <p:nvSpPr>
          <p:cNvPr id="12" name="Right Arrow 11"/>
          <p:cNvSpPr/>
          <p:nvPr/>
        </p:nvSpPr>
        <p:spPr>
          <a:xfrm rot="10800000">
            <a:off x="401817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3938" y="3855720"/>
            <a:ext cx="3423818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Tres casos que enseñan</a:t>
            </a:r>
          </a:p>
        </p:txBody>
      </p:sp>
      <p:sp>
        <p:nvSpPr>
          <p:cNvPr id="14" name="Right Arrow 13"/>
          <p:cNvSpPr/>
          <p:nvPr/>
        </p:nvSpPr>
        <p:spPr>
          <a:xfrm rot="10800000">
            <a:off x="785347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3423818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Diagnóstico con gold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Cada bloque produce un número o una respuesta que se compara con una predicción.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Tres casos que enseñan más que el caso feliz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426055"/>
              </p:ext>
            </p:extLst>
          </p:nvPr>
        </p:nvGraphicFramePr>
        <p:xfrm>
          <a:off x="548640" y="2207230"/>
          <a:ext cx="11094415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Pregunta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se recupera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responde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Qué enseña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¿Cuántos días para el reembolso?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Política vigente, notas históricas, FAQ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14 días, con cita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Caso feliz: la evidencia llegó y se usó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¿Facturio tiene oficina en Guadalajara?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Horarios, correcciones, exclusiones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"No tengo evidencia..."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Answerability: la frase exacta funciona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¿Qué pasa si me equivoco?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Tres fragmentos sin relación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11827"/>
                          </a:solidFill>
                          <a:latin typeface="Calibri"/>
                        </a:rPr>
                        <a:t>Una ruta de menú inventada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Pregunta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ambigua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: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el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retrieval no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pudo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, la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generación</a:t>
                      </a:r>
                      <a:r>
                        <a:rPr sz="13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rellenó</a:t>
                      </a:r>
                      <a:endParaRPr sz="13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Diagnóstico con el gold set (modelo local, k =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94415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8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8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¿Evidencia en top-5?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Respuesta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Causa si falla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q01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factual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14 días, cita mal formada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Generación: formato de cita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factual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no (sección canónica)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90 s, correcto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Correcto por redundancia del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q09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factual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Responde "2,000 facturas al mes": un dato vecino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Retrieval: la sección con el 99.95 % no llegó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conceptual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Pasos de interfaz inventados; sin el plazo de 72 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Retrieval: la sección de cancelación no llegó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q19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conceptual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Contenido correcto con un formato extraño ([Título] [Fuente])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Generación: formato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q21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sin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"No tengo evidencia..."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11827"/>
                          </a:solidFill>
                          <a:latin typeface="Calibri"/>
                        </a:rPr>
                        <a:t>Correcto por diseño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La columna del medio es la que separa las dos causas. La semana 6 la convierte en hit@k.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regla del bloque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Una mala respuesta puede originarse antes de llamar al modelo.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Primero: ¿llegó la evidencia? Si no llegó, el problema es de retrieval. Si llegó y la respuesta está mal, es de generación.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Cómo diagnosticar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Falla de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sección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correcta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está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top-k.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responde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con lo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tiene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parcial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vecino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o "no hay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".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corrige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ingesta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consulta: chunking, k, embeddings, metadata.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Ningún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cambio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prompt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generación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arregla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Falla de generación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endParaRPr lang="es-MX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sección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correcta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está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top-k.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ignora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deforma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cita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mal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elige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fuente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equivocada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corrige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prompt,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orden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Es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única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prompt engineering de la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4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tocar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costo del contexto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Cada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llamada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envía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k chunks: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demo, 700 a 900 tokens de entrada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k = 5.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k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perilla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ruido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chunks,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probabilidad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incluir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tokens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distracción</a:t>
            </a:r>
            <a:r>
              <a:rPr lang="es-419" sz="2200" dirty="0">
                <a:solidFill>
                  <a:srgbClr val="111827"/>
                </a:solidFill>
                <a:latin typeface="Calibri"/>
              </a:rPr>
              <a:t>, más riesgo de “alucinación”</a:t>
            </a:r>
            <a:endParaRPr sz="2200" b="0" dirty="0">
              <a:solidFill>
                <a:srgbClr val="111827"/>
              </a:solidFill>
              <a:latin typeface="Calibri"/>
            </a:endParaRP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El retrieval decide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cuánto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paga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llamada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siempre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Con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millón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tickets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200 tokens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diferencia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llamada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son 200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millones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tokens.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Actividad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¿Retrieval o generación? (20 minutos)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Cinco malas respuestas, una causa cada 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Cinco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casos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fuentes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recuperadas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sistema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(exercises/01-clasificar-fallas.md).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uno: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correcta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falla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retrieval,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falla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generación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o sin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correcta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Una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línea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justificación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mencione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fuentes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intervención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barata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corrige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orden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prompt, k, chunking, embeddings,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común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dos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casos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discutidos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Lo que cambia y lo que sigue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Las siete preguntas, aplicadas a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Qué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problema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resuelve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vio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reciente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privada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o exacta.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Cómo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funciona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Buscar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chunks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parecidos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ponerlos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referencias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Cuándo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usarla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1400" b="0" dirty="0" err="1">
                <a:solidFill>
                  <a:srgbClr val="111827"/>
                </a:solidFill>
                <a:latin typeface="Calibri"/>
              </a:rPr>
              <a:t>Cuando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cambia, es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privada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o hay que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citarla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Cuándo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no?</a:t>
            </a: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Para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cambiar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tono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formato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(prompting), 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cuando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cabe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y se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conoce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Cómo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evaluarla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Retrieval y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generación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separado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 Semana 6: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hit@k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7316" y="3863340"/>
            <a:ext cx="3545738" cy="230886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¿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Qué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puede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1700" b="1" dirty="0" err="1">
                <a:solidFill>
                  <a:srgbClr val="1F2A44"/>
                </a:solidFill>
                <a:latin typeface="Calibri"/>
              </a:rPr>
              <a:t>fallar</a:t>
            </a:r>
            <a:r>
              <a:rPr sz="1700" b="1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La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llega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llega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y se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ignora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llega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histórica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; no hay y se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inventa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se llevan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RAG es 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prompting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un paso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previo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selecciona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generación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cambió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El pipeline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ocho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funciones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ninguna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magia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índice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multiplicación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ordenamiento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chunking, k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embeddings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decisiones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ingeniería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Answerability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frase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exacta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código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detectar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Una mala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originarse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llamar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primero, ¿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llegó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Semana 6: ¿qué determina qué información termina viendo el modelo?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La columna "¿llegó la evidencia?" se convierte en hit@k, recall@k y MRR sobre el gold 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rgbClr val="6B7280"/>
                </a:solidFill>
                <a:latin typeface="Calibri"/>
              </a:rPr>
              <a:t>Y se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mide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qué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mueve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: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tamaño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de chunk, overlap, k, metadata,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modelo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de embeddings.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Práctica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5 · RAG Fundamentals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>
              <a:solidFill>
                <a:srgbClr val="111827"/>
              </a:solidFill>
              <a:latin typeface="Calibri"/>
            </a:endParaRPr>
          </a:p>
          <a:p>
            <a:r>
              <a:rPr sz="2200" b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RAG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mínimo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sobre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corpus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starter.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Trece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del gold set: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evidencia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sin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respuesta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diagnosticadas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Cuatro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unidades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chunking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comparadas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hit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archivo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hit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tokens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Decisión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prompting / RAG / fine-tuning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requisitos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Facturio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Costo: cero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local; centavos con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llave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4492</Words>
  <Application>Microsoft Macintosh PowerPoint</Application>
  <PresentationFormat>Panorámica</PresentationFormat>
  <Paragraphs>457</Paragraphs>
  <Slides>42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Barrera Valdés</cp:lastModifiedBy>
  <cp:revision>2</cp:revision>
  <dcterms:created xsi:type="dcterms:W3CDTF">2013-01-27T09:14:16Z</dcterms:created>
  <dcterms:modified xsi:type="dcterms:W3CDTF">2026-10-10T01:17:11Z</dcterms:modified>
  <cp:category/>
</cp:coreProperties>
</file>